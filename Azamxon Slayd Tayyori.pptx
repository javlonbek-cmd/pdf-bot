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92" r:id="rId6"/>
    <p:sldId id="258" r:id="rId7"/>
    <p:sldId id="259" r:id="rId8"/>
    <p:sldId id="260" r:id="rId9"/>
    <p:sldId id="261" r:id="rId10"/>
    <p:sldId id="263" r:id="rId11"/>
    <p:sldId id="264" r:id="rId12"/>
    <p:sldId id="265" r:id="rId13"/>
    <p:sldId id="266" r:id="rId14"/>
    <p:sldId id="267" r:id="rId15"/>
    <p:sldId id="291" r:id="rId16"/>
    <p:sldId id="274" r:id="rId17"/>
    <p:sldId id="275" r:id="rId18"/>
    <p:sldId id="276" r:id="rId19"/>
    <p:sldId id="277" r:id="rId20"/>
    <p:sldId id="278" r:id="rId21"/>
    <p:sldId id="279" r:id="rId22"/>
    <p:sldId id="290" r:id="rId23"/>
    <p:sldId id="288" r:id="rId24"/>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7" userDrawn="1">
          <p15:clr>
            <a:srgbClr val="A4A3A4"/>
          </p15:clr>
        </p15:guide>
        <p15:guide id="2"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47"/>
        <p:guide pos="290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Ushbu reja IP manzillar turlari va ishlashini, tarmoq xavfsizligi tahdidlarini va kiberhujumlarni, shuningdek IP manzillarni himoya qilish va monitoring qilish tizimlarini qamrab oladi.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IPv4 4 mlrd manzil, klass tizimidan CIDR ga o'tdi, IPv6 esa 128 bit bilan 3.4×10^38 manzilni qo'llaydi. Farqlar manzil uzunligi, xavfsizlik (IPSec), NAT zarurati va sozlash usullarida.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OSI va TCP/IP modellarida IP protokoli joylashuvi, paket uzatish, marshrutlash, NAT va DHCP ishlashi tushuntirildi. Shuningdek, subnetlash orqali tarmoqni segmentlarga bo‘lish va uning xavfsizligi hamda optimallashtirishdagi roli ko‘rsatildi.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Tarmoq xavfsizligining uch tamoyili - maxfiylik, butunlik, mavjudlik - va ichki, tashqi tahdidlarning misollari bilan batafsil ko'rib chiqildi. Shuningdek, IoT, bulut, ransomware va sun'iy intellekt asosidagi yangi tahdidlar tahlil qilindi.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DoS va DDoS hujumlari yuqori quvvatdagi trafik bilan xizmatlarni to'xtatadi, IP spoofing va MITM orqali ma'lumotlar o'zgarishi xavfli. Ko'p hujumlar kombinatsiyasi aniqlashni qiyinlashtiradi, shuning uchun kompleks himoya zarur.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SNMP va NetFlow protokollari orqali trafik ma’lumotlari real vaqtda yig‘ilib, SIEM tizimlari loglarni markazlashtiradi. Statistika va mashinaviy o‘qitish usullari anomaliyalarni aniqlashda qo‘llaniladi, IP reputatsiya tizimlari xavfsizlikni oshiradi.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IDS tomonidan tahdidlar aniqlanadi, IPS esa ularni avtomatik bloklaydi. Signature va anomaly-based usullar samaradorlikni oshiradi, ammo false positive va negative xatolar xavfsizlikka salbiy ta'sir qiladi.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Bu slaydda IP manzillarni cheklash usullari, jumladan blacklist, whitelist, Geo-IP filtrlar va rate limiting algoritmlari ko‘rib chiqiladi, shuningdek avtomatik bloklash va Zero Trust modelining roli ta'kidlanadi.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Loglar tarmoq kirishlari, xatoliklar va xavfsizlik hodisalarini monitoring qiladi. Xavfsizlik auditi riskni aniqlash, nazoratni amalga oshirishdan iborat bo‘ladi. IP trafikining statistik tahlili va samaradorlik ko‘rsatkichlari ham muhim ahamiyatga ega.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2023-yilda DDoS hujumlari soni 2.5 baravarga oshdi, quvvati 1 Tbps ga yetdi va moliyaviy zararlar 1 million dollarga yetmoqda.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IP manzillarni nazorat qilish tarmoq xavfsizligini sezilarli darajada oshiradi. Kirishni boshqarish va nojo‘ya trafikni bloklash orqali xavfsizlik darajasi yaxshilanadi. Bu usul tahdidlarni minimallashtirishda muhim.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Tarmoq himoyasida IP manzillar nazorati samaralari ko'rinishlari va amaliy qo'llanmalar bilan taqdim etildi. Endi savollar uchun ochiqmiz va yordam berishga tayyormiz.</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318912" y="922867"/>
            <a:ext cx="15846777" cy="8147051"/>
          </a:xfrm>
          <a:prstGeom prst="rect">
            <a:avLst/>
          </a:prstGeom>
          <a:noFill/>
          <a:ln w="9525">
            <a:noFill/>
          </a:ln>
        </p:spPr>
      </p:pic>
      <p:sp>
        <p:nvSpPr>
          <p:cNvPr id="10" name="Rectangle 7"/>
          <p:cNvSpPr>
            <a:spLocks noChangeArrowheads="1"/>
          </p:cNvSpPr>
          <p:nvPr/>
        </p:nvSpPr>
        <p:spPr bwMode="auto">
          <a:xfrm>
            <a:off x="2823" y="732367"/>
            <a:ext cx="16256000" cy="2015067"/>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3392311" y="3323167"/>
            <a:ext cx="9858023" cy="1629833"/>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343378" y="827617"/>
            <a:ext cx="13817600" cy="1960033"/>
          </a:xfrm>
        </p:spPr>
        <p:txBody>
          <a:bodyPr/>
          <a:lstStyle>
            <a:lvl1pPr>
              <a:defRPr sz="48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812800" y="8326967"/>
            <a:ext cx="3793067" cy="635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12" name="Rectangle 5"/>
          <p:cNvSpPr>
            <a:spLocks noChangeArrowheads="1"/>
          </p:cNvSpPr>
          <p:nvPr>
            <p:ph type="ftr" sz="quarter" idx="3"/>
          </p:nvPr>
        </p:nvSpPr>
        <p:spPr bwMode="auto">
          <a:xfrm>
            <a:off x="5554133" y="8326967"/>
            <a:ext cx="5147733" cy="635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11650133" y="8326967"/>
            <a:ext cx="3793067" cy="635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fld id="{5BCAD085-E8A6-8845-BD4E-CB4CCA059FC4}" type="datetimeFigureOut">
              <a:rPr lang="en-US" smtClean="0"/>
            </a:fld>
            <a:endParaRPr lang="en-US"/>
          </a:p>
        </p:txBody>
      </p:sp>
      <p:sp>
        <p:nvSpPr>
          <p:cNvPr id="5" name="Замещающий нижний колонтитул 4"/>
          <p:cNvSpPr>
            <a:spLocks noGrp="1"/>
          </p:cNvSpPr>
          <p:nvPr>
            <p:ph type="ftr" sz="quarter" idx="11"/>
          </p:nvPr>
        </p:nvSpPr>
        <p:spPr/>
        <p:txBody>
          <a:bodyPr/>
          <a:p>
            <a:endParaRPr lang="en-US"/>
          </a:p>
        </p:txBody>
      </p:sp>
      <p:sp>
        <p:nvSpPr>
          <p:cNvPr id="6" name="Замещающий номер слайда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9134" y="2279651"/>
            <a:ext cx="14020800" cy="3803649"/>
          </a:xfrm>
        </p:spPr>
        <p:txBody>
          <a:bodyPr anchor="b"/>
          <a:lstStyle>
            <a:lvl1pPr>
              <a:defRPr sz="8000"/>
            </a:lvl1pPr>
          </a:lstStyle>
          <a:p>
            <a:r>
              <a:rPr lang="en-US" smtClean="0"/>
              <a:t>Click to edit Master title style</a:t>
            </a:r>
            <a:endParaRPr lang="en-US"/>
          </a:p>
        </p:txBody>
      </p:sp>
      <p:sp>
        <p:nvSpPr>
          <p:cNvPr id="3" name="Text Placeholder 2"/>
          <p:cNvSpPr>
            <a:spLocks noGrp="1"/>
          </p:cNvSpPr>
          <p:nvPr>
            <p:ph type="body" idx="1"/>
          </p:nvPr>
        </p:nvSpPr>
        <p:spPr>
          <a:xfrm>
            <a:off x="1109134" y="6119284"/>
            <a:ext cx="14020800" cy="2000249"/>
          </a:xfrm>
        </p:spPr>
        <p:txBody>
          <a:bodyPr/>
          <a:lstStyle>
            <a:lvl1pPr marL="0" indent="0">
              <a:buNone/>
              <a:defRPr sz="3200"/>
            </a:lvl1pPr>
            <a:lvl2pPr marL="609600" indent="0">
              <a:buNone/>
              <a:defRPr sz="2665"/>
            </a:lvl2pPr>
            <a:lvl3pPr marL="1219200" indent="0">
              <a:buNone/>
              <a:defRPr sz="2400"/>
            </a:lvl3pPr>
            <a:lvl4pPr marL="1828800" indent="0">
              <a:buNone/>
              <a:defRPr sz="2135"/>
            </a:lvl4pPr>
            <a:lvl5pPr marL="2438400" indent="0">
              <a:buNone/>
              <a:defRPr sz="2135"/>
            </a:lvl5pPr>
            <a:lvl6pPr marL="3048000" indent="0">
              <a:buNone/>
              <a:defRPr sz="2135"/>
            </a:lvl6pPr>
            <a:lvl7pPr marL="3657600" indent="0">
              <a:buNone/>
              <a:defRPr sz="2135"/>
            </a:lvl7pPr>
            <a:lvl8pPr marL="4267200" indent="0">
              <a:buNone/>
              <a:defRPr sz="2135"/>
            </a:lvl8pPr>
            <a:lvl9pPr marL="4876800" indent="0">
              <a:buNone/>
              <a:defRPr sz="2135"/>
            </a:lvl9pPr>
          </a:lstStyle>
          <a:p>
            <a:pPr lvl="0"/>
            <a:r>
              <a:rPr lang="en-US" smtClean="0"/>
              <a:t>Click to edit Master text styles</a:t>
            </a:r>
            <a:endParaRPr lang="en-US" smtClean="0"/>
          </a:p>
        </p:txBody>
      </p:sp>
      <p:sp>
        <p:nvSpPr>
          <p:cNvPr id="4" name="Замещающая дата 3"/>
          <p:cNvSpPr>
            <a:spLocks noGrp="1"/>
          </p:cNvSpPr>
          <p:nvPr>
            <p:ph type="dt" sz="half" idx="10"/>
          </p:nvPr>
        </p:nvSpPr>
        <p:spPr/>
        <p:txBody>
          <a:bodyPr/>
          <a:p>
            <a:fld id="{5BCAD085-E8A6-8845-BD4E-CB4CCA059FC4}" type="datetimeFigureOut">
              <a:rPr lang="en-US" smtClean="0"/>
            </a:fld>
            <a:endParaRPr lang="en-US"/>
          </a:p>
        </p:txBody>
      </p:sp>
      <p:sp>
        <p:nvSpPr>
          <p:cNvPr id="5" name="Замещающий нижний колонтитул 4"/>
          <p:cNvSpPr>
            <a:spLocks noGrp="1"/>
          </p:cNvSpPr>
          <p:nvPr>
            <p:ph type="ftr" sz="quarter" idx="11"/>
          </p:nvPr>
        </p:nvSpPr>
        <p:spPr/>
        <p:txBody>
          <a:bodyPr/>
          <a:p>
            <a:endParaRPr lang="en-US"/>
          </a:p>
        </p:txBody>
      </p:sp>
      <p:sp>
        <p:nvSpPr>
          <p:cNvPr id="6" name="Замещающий номер слайда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2133600"/>
            <a:ext cx="7179733" cy="603461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8263467" y="2133600"/>
            <a:ext cx="7179733" cy="6034617"/>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Замещающая дата 4"/>
          <p:cNvSpPr>
            <a:spLocks noGrp="1"/>
          </p:cNvSpPr>
          <p:nvPr>
            <p:ph type="dt" sz="half" idx="10"/>
          </p:nvPr>
        </p:nvSpPr>
        <p:spPr/>
        <p:txBody>
          <a:bodyPr/>
          <a:p>
            <a:fld id="{5BCAD085-E8A6-8845-BD4E-CB4CCA059FC4}" type="datetimeFigureOut">
              <a:rPr lang="en-US" smtClean="0"/>
            </a:fld>
            <a:endParaRPr lang="en-US"/>
          </a:p>
        </p:txBody>
      </p:sp>
      <p:sp>
        <p:nvSpPr>
          <p:cNvPr id="6" name="Замещающий нижний колонтитул 5"/>
          <p:cNvSpPr>
            <a:spLocks noGrp="1"/>
          </p:cNvSpPr>
          <p:nvPr>
            <p:ph type="ftr" sz="quarter" idx="11"/>
          </p:nvPr>
        </p:nvSpPr>
        <p:spPr/>
        <p:txBody>
          <a:bodyPr/>
          <a:p>
            <a:endParaRPr lang="en-US"/>
          </a:p>
        </p:txBody>
      </p:sp>
      <p:sp>
        <p:nvSpPr>
          <p:cNvPr id="7" name="Замещающий номер слайда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0423" y="486833"/>
            <a:ext cx="14020800" cy="1767417"/>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120423" y="2241551"/>
            <a:ext cx="6877755" cy="1098549"/>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120423" y="3340100"/>
            <a:ext cx="6877755" cy="4912784"/>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8229600" y="2241551"/>
            <a:ext cx="6911623" cy="1098549"/>
          </a:xfr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8229600" y="3340100"/>
            <a:ext cx="6911623" cy="4912784"/>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Замещающая дата 6"/>
          <p:cNvSpPr>
            <a:spLocks noGrp="1"/>
          </p:cNvSpPr>
          <p:nvPr>
            <p:ph type="dt" sz="half" idx="10"/>
          </p:nvPr>
        </p:nvSpPr>
        <p:spPr/>
        <p:txBody>
          <a:bodyPr/>
          <a:p>
            <a:fld id="{5BCAD085-E8A6-8845-BD4E-CB4CCA059FC4}" type="datetimeFigureOut">
              <a:rPr lang="en-US" smtClean="0"/>
            </a:fld>
            <a:endParaRPr lang="en-US"/>
          </a:p>
        </p:txBody>
      </p:sp>
      <p:sp>
        <p:nvSpPr>
          <p:cNvPr id="8" name="Замещающий нижний колонтитул 7"/>
          <p:cNvSpPr>
            <a:spLocks noGrp="1"/>
          </p:cNvSpPr>
          <p:nvPr>
            <p:ph type="ftr" sz="quarter" idx="11"/>
          </p:nvPr>
        </p:nvSpPr>
        <p:spPr/>
        <p:txBody>
          <a:bodyPr/>
          <a:p>
            <a:endParaRPr lang="en-US"/>
          </a:p>
        </p:txBody>
      </p:sp>
      <p:sp>
        <p:nvSpPr>
          <p:cNvPr id="9" name="Замещающий номер слайда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Замещающая дата 2"/>
          <p:cNvSpPr>
            <a:spLocks noGrp="1"/>
          </p:cNvSpPr>
          <p:nvPr>
            <p:ph type="dt" sz="half" idx="10"/>
          </p:nvPr>
        </p:nvSpPr>
        <p:spPr/>
        <p:txBody>
          <a:bodyPr/>
          <a:p>
            <a:fld id="{5BCAD085-E8A6-8845-BD4E-CB4CCA059FC4}" type="datetimeFigureOut">
              <a:rPr lang="en-US" smtClean="0"/>
            </a:fld>
            <a:endParaRPr lang="en-US"/>
          </a:p>
        </p:txBody>
      </p:sp>
      <p:sp>
        <p:nvSpPr>
          <p:cNvPr id="4" name="Замещающий нижний колонтитул 3"/>
          <p:cNvSpPr>
            <a:spLocks noGrp="1"/>
          </p:cNvSpPr>
          <p:nvPr>
            <p:ph type="ftr" sz="quarter" idx="11"/>
          </p:nvPr>
        </p:nvSpPr>
        <p:spPr/>
        <p:txBody>
          <a:bodyPr/>
          <a:p>
            <a:endParaRPr lang="en-US"/>
          </a:p>
        </p:txBody>
      </p:sp>
      <p:sp>
        <p:nvSpPr>
          <p:cNvPr id="5" name="Замещающий номер слайда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Замещающая дата 1"/>
          <p:cNvSpPr>
            <a:spLocks noGrp="1"/>
          </p:cNvSpPr>
          <p:nvPr>
            <p:ph type="dt" sz="half" idx="10"/>
          </p:nvPr>
        </p:nvSpPr>
        <p:spPr/>
        <p:txBody>
          <a:bodyPr/>
          <a:p>
            <a:fld id="{5BCAD085-E8A6-8845-BD4E-CB4CCA059FC4}" type="datetimeFigureOut">
              <a:rPr lang="en-US" smtClean="0"/>
            </a:fld>
            <a:endParaRPr lang="en-US"/>
          </a:p>
        </p:txBody>
      </p:sp>
      <p:sp>
        <p:nvSpPr>
          <p:cNvPr id="3" name="Замещающий нижний колонтитул 2"/>
          <p:cNvSpPr>
            <a:spLocks noGrp="1"/>
          </p:cNvSpPr>
          <p:nvPr>
            <p:ph type="ftr" sz="quarter" idx="11"/>
          </p:nvPr>
        </p:nvSpPr>
        <p:spPr/>
        <p:txBody>
          <a:bodyPr/>
          <a:p>
            <a:endParaRPr lang="en-US"/>
          </a:p>
        </p:txBody>
      </p:sp>
      <p:sp>
        <p:nvSpPr>
          <p:cNvPr id="4" name="Замещающий номер слайда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0423" y="609600"/>
            <a:ext cx="5243689" cy="2133600"/>
          </a:xfrm>
        </p:spPr>
        <p:txBody>
          <a:bodyPr anchor="b"/>
          <a:lstStyle>
            <a:lvl1pPr>
              <a:defRPr sz="4265"/>
            </a:lvl1pPr>
          </a:lstStyle>
          <a:p>
            <a:r>
              <a:rPr lang="en-US" smtClean="0"/>
              <a:t>Click to edit Master title style</a:t>
            </a:r>
            <a:endParaRPr lang="en-US"/>
          </a:p>
        </p:txBody>
      </p:sp>
      <p:sp>
        <p:nvSpPr>
          <p:cNvPr id="3" name="Content Placeholder 2"/>
          <p:cNvSpPr>
            <a:spLocks noGrp="1"/>
          </p:cNvSpPr>
          <p:nvPr>
            <p:ph idx="1"/>
          </p:nvPr>
        </p:nvSpPr>
        <p:spPr>
          <a:xfrm>
            <a:off x="6911623" y="1316567"/>
            <a:ext cx="8229600" cy="6498167"/>
          </a:xfr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120423" y="2743200"/>
            <a:ext cx="5243689" cy="5082117"/>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en-US" smtClean="0"/>
              <a:t>Click to edit Master text styles</a:t>
            </a:r>
            <a:endParaRPr lang="en-US" smtClean="0"/>
          </a:p>
        </p:txBody>
      </p:sp>
      <p:sp>
        <p:nvSpPr>
          <p:cNvPr id="5" name="Замещающая дата 4"/>
          <p:cNvSpPr>
            <a:spLocks noGrp="1"/>
          </p:cNvSpPr>
          <p:nvPr>
            <p:ph type="dt" sz="half" idx="10"/>
          </p:nvPr>
        </p:nvSpPr>
        <p:spPr/>
        <p:txBody>
          <a:bodyPr/>
          <a:p>
            <a:fld id="{5BCAD085-E8A6-8845-BD4E-CB4CCA059FC4}" type="datetimeFigureOut">
              <a:rPr lang="en-US" smtClean="0"/>
            </a:fld>
            <a:endParaRPr lang="en-US"/>
          </a:p>
        </p:txBody>
      </p:sp>
      <p:sp>
        <p:nvSpPr>
          <p:cNvPr id="6" name="Замещающий нижний колонтитул 5"/>
          <p:cNvSpPr>
            <a:spLocks noGrp="1"/>
          </p:cNvSpPr>
          <p:nvPr>
            <p:ph type="ftr" sz="quarter" idx="11"/>
          </p:nvPr>
        </p:nvSpPr>
        <p:spPr/>
        <p:txBody>
          <a:bodyPr/>
          <a:p>
            <a:endParaRPr lang="en-US"/>
          </a:p>
        </p:txBody>
      </p:sp>
      <p:sp>
        <p:nvSpPr>
          <p:cNvPr id="7" name="Замещающий номер слайда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0423" y="609600"/>
            <a:ext cx="5243689" cy="2133600"/>
          </a:xfrm>
        </p:spPr>
        <p:txBody>
          <a:bodyPr anchor="b"/>
          <a:lstStyle>
            <a:lvl1pPr>
              <a:defRPr sz="4265"/>
            </a:lvl1pPr>
          </a:lstStyle>
          <a:p>
            <a:r>
              <a:rPr lang="en-US" smtClean="0"/>
              <a:t>Click to edit Master title style</a:t>
            </a:r>
            <a:endParaRPr lang="en-US"/>
          </a:p>
        </p:txBody>
      </p:sp>
      <p:sp>
        <p:nvSpPr>
          <p:cNvPr id="3" name="Picture Placeholder 2"/>
          <p:cNvSpPr>
            <a:spLocks noGrp="1"/>
          </p:cNvSpPr>
          <p:nvPr>
            <p:ph type="pic" idx="1"/>
          </p:nvPr>
        </p:nvSpPr>
        <p:spPr>
          <a:xfrm>
            <a:off x="6911623" y="1316567"/>
            <a:ext cx="8229600" cy="6498167"/>
          </a:xfrm>
        </p:spPr>
        <p:txBody>
          <a:bodyPr vert="horz" wrap="square" lIns="91440" tIns="45720" rIns="91440" bIns="45720" numCol="1" anchor="t" anchorCtr="0" compatLnSpc="1"/>
          <a:lstStyle>
            <a:lvl1pPr marL="0" indent="0">
              <a:buNone/>
              <a:defRPr sz="4265"/>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120423" y="2743200"/>
            <a:ext cx="5243689" cy="5082117"/>
          </a:xfrm>
        </p:spPr>
        <p:txBody>
          <a:bodyPr/>
          <a:lstStyle>
            <a:lvl1pPr marL="0" indent="0">
              <a:buNone/>
              <a:defRPr sz="2135"/>
            </a:lvl1pPr>
            <a:lvl2pPr marL="609600" indent="0">
              <a:buNone/>
              <a:defRPr sz="1865"/>
            </a:lvl2pPr>
            <a:lvl3pPr marL="1219200" indent="0">
              <a:buNone/>
              <a:defRPr sz="1600"/>
            </a:lvl3pPr>
            <a:lvl4pPr marL="1828800" indent="0">
              <a:buNone/>
              <a:defRPr sz="1335"/>
            </a:lvl4pPr>
            <a:lvl5pPr marL="2438400" indent="0">
              <a:buNone/>
              <a:defRPr sz="1335"/>
            </a:lvl5pPr>
            <a:lvl6pPr marL="3048000" indent="0">
              <a:buNone/>
              <a:defRPr sz="1335"/>
            </a:lvl6pPr>
            <a:lvl7pPr marL="3657600" indent="0">
              <a:buNone/>
              <a:defRPr sz="1335"/>
            </a:lvl7pPr>
            <a:lvl8pPr marL="4267200" indent="0">
              <a:buNone/>
              <a:defRPr sz="1335"/>
            </a:lvl8pPr>
            <a:lvl9pPr marL="4876800" indent="0">
              <a:buNone/>
              <a:defRPr sz="1335"/>
            </a:lvl9pPr>
          </a:lstStyle>
          <a:p>
            <a:pPr lvl="0"/>
            <a:r>
              <a:rPr lang="en-US" smtClean="0"/>
              <a:t>Click to edit Master text styles</a:t>
            </a:r>
            <a:endParaRPr lang="en-US" smtClean="0"/>
          </a:p>
        </p:txBody>
      </p:sp>
      <p:sp>
        <p:nvSpPr>
          <p:cNvPr id="5" name="Замещающая дата 4"/>
          <p:cNvSpPr>
            <a:spLocks noGrp="1"/>
          </p:cNvSpPr>
          <p:nvPr>
            <p:ph type="dt" sz="half" idx="10"/>
          </p:nvPr>
        </p:nvSpPr>
        <p:spPr/>
        <p:txBody>
          <a:bodyPr/>
          <a:p>
            <a:fld id="{5BCAD085-E8A6-8845-BD4E-CB4CCA059FC4}" type="datetimeFigureOut">
              <a:rPr lang="en-US" smtClean="0"/>
            </a:fld>
            <a:endParaRPr lang="en-US"/>
          </a:p>
        </p:txBody>
      </p:sp>
      <p:sp>
        <p:nvSpPr>
          <p:cNvPr id="6" name="Замещающий нижний колонтитул 5"/>
          <p:cNvSpPr>
            <a:spLocks noGrp="1"/>
          </p:cNvSpPr>
          <p:nvPr>
            <p:ph type="ftr" sz="quarter" idx="11"/>
          </p:nvPr>
        </p:nvSpPr>
        <p:spPr/>
        <p:txBody>
          <a:bodyPr/>
          <a:p>
            <a:endParaRPr lang="en-US"/>
          </a:p>
        </p:txBody>
      </p:sp>
      <p:sp>
        <p:nvSpPr>
          <p:cNvPr id="7" name="Замещающий номер слайда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fld id="{5BCAD085-E8A6-8845-BD4E-CB4CCA059FC4}" type="datetimeFigureOut">
              <a:rPr lang="en-US" smtClean="0"/>
            </a:fld>
            <a:endParaRPr lang="en-US"/>
          </a:p>
        </p:txBody>
      </p:sp>
      <p:sp>
        <p:nvSpPr>
          <p:cNvPr id="5" name="Замещающий нижний колонтитул 4"/>
          <p:cNvSpPr>
            <a:spLocks noGrp="1"/>
          </p:cNvSpPr>
          <p:nvPr>
            <p:ph type="ftr" sz="quarter" idx="11"/>
          </p:nvPr>
        </p:nvSpPr>
        <p:spPr/>
        <p:txBody>
          <a:bodyPr/>
          <a:p>
            <a:endParaRPr lang="en-US"/>
          </a:p>
        </p:txBody>
      </p:sp>
      <p:sp>
        <p:nvSpPr>
          <p:cNvPr id="6" name="Замещающий номер слайда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366184"/>
            <a:ext cx="3657600" cy="78020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366184"/>
            <a:ext cx="10701867" cy="7802033"/>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Замещающая дата 3"/>
          <p:cNvSpPr>
            <a:spLocks noGrp="1"/>
          </p:cNvSpPr>
          <p:nvPr>
            <p:ph type="dt" sz="half" idx="10"/>
          </p:nvPr>
        </p:nvSpPr>
        <p:spPr/>
        <p:txBody>
          <a:bodyPr/>
          <a:p>
            <a:fld id="{5BCAD085-E8A6-8845-BD4E-CB4CCA059FC4}" type="datetimeFigureOut">
              <a:rPr lang="en-US" smtClean="0"/>
            </a:fld>
            <a:endParaRPr lang="en-US"/>
          </a:p>
        </p:txBody>
      </p:sp>
      <p:sp>
        <p:nvSpPr>
          <p:cNvPr id="5" name="Замещающий нижний колонтитул 4"/>
          <p:cNvSpPr>
            <a:spLocks noGrp="1"/>
          </p:cNvSpPr>
          <p:nvPr>
            <p:ph type="ftr" sz="quarter" idx="11"/>
          </p:nvPr>
        </p:nvSpPr>
        <p:spPr/>
        <p:txBody>
          <a:bodyPr/>
          <a:p>
            <a:endParaRPr lang="en-US"/>
          </a:p>
        </p:txBody>
      </p:sp>
      <p:sp>
        <p:nvSpPr>
          <p:cNvPr id="6" name="Замещающий номер слайда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823" y="444500"/>
            <a:ext cx="16256000" cy="13462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10306756" y="5918200"/>
            <a:ext cx="5937956" cy="3111500"/>
          </a:xfrm>
          <a:prstGeom prst="rect">
            <a:avLst/>
          </a:prstGeom>
          <a:noFill/>
          <a:ln w="9525">
            <a:noFill/>
          </a:ln>
        </p:spPr>
      </p:pic>
      <p:sp>
        <p:nvSpPr>
          <p:cNvPr id="1028" name="Rectangle 4"/>
          <p:cNvSpPr/>
          <p:nvPr>
            <p:ph type="title"/>
          </p:nvPr>
        </p:nvSpPr>
        <p:spPr>
          <a:xfrm>
            <a:off x="812800" y="366184"/>
            <a:ext cx="14630400" cy="1524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812800" y="2133600"/>
            <a:ext cx="14630400" cy="6034617"/>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812800" y="8326967"/>
            <a:ext cx="3793067"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865"/>
            </a:lvl1pPr>
          </a:lstStyle>
          <a:p>
            <a:fld id="{5BCAD085-E8A6-8845-BD4E-CB4CCA059FC4}" type="datetimeFigureOut">
              <a:rPr lang="en-US" smtClean="0"/>
            </a:fld>
            <a:endParaRPr lang="en-US"/>
          </a:p>
        </p:txBody>
      </p:sp>
      <p:sp>
        <p:nvSpPr>
          <p:cNvPr id="1031" name="Rectangle 7"/>
          <p:cNvSpPr>
            <a:spLocks noChangeArrowheads="1"/>
          </p:cNvSpPr>
          <p:nvPr>
            <p:ph type="ftr" sz="quarter" idx="3"/>
          </p:nvPr>
        </p:nvSpPr>
        <p:spPr bwMode="auto">
          <a:xfrm>
            <a:off x="5554133" y="8326967"/>
            <a:ext cx="514773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865"/>
            </a:lvl1pPr>
          </a:lstStyle>
          <a:p>
            <a:endParaRPr lang="en-US"/>
          </a:p>
        </p:txBody>
      </p:sp>
      <p:sp>
        <p:nvSpPr>
          <p:cNvPr id="1032" name="Rectangle 8"/>
          <p:cNvSpPr>
            <a:spLocks noChangeArrowheads="1"/>
          </p:cNvSpPr>
          <p:nvPr>
            <p:ph type="sldNum" sz="quarter" idx="4"/>
          </p:nvPr>
        </p:nvSpPr>
        <p:spPr bwMode="auto">
          <a:xfrm>
            <a:off x="11650133" y="8326967"/>
            <a:ext cx="3793067"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865"/>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5865"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457200" indent="-457200" algn="l" rtl="0" fontAlgn="base">
        <a:spcBef>
          <a:spcPts val="130"/>
        </a:spcBef>
        <a:spcAft>
          <a:spcPct val="0"/>
        </a:spcAft>
        <a:buChar char="•"/>
        <a:defRPr sz="4265" kern="1200">
          <a:solidFill>
            <a:schemeClr val="tx1"/>
          </a:solidFill>
          <a:latin typeface="+mn-lt"/>
          <a:ea typeface="+mn-ea"/>
          <a:cs typeface="+mn-cs"/>
        </a:defRPr>
      </a:lvl1pPr>
      <a:lvl2pPr marL="990600" indent="-381000" algn="l" rtl="0" fontAlgn="base">
        <a:spcBef>
          <a:spcPts val="130"/>
        </a:spcBef>
        <a:spcAft>
          <a:spcPct val="0"/>
        </a:spcAft>
        <a:buChar char="–"/>
        <a:defRPr sz="3735" kern="1200">
          <a:solidFill>
            <a:schemeClr val="tx1"/>
          </a:solidFill>
          <a:latin typeface="+mn-lt"/>
          <a:ea typeface="+mn-ea"/>
          <a:cs typeface="+mn-cs"/>
        </a:defRPr>
      </a:lvl2pPr>
      <a:lvl3pPr marL="1524000" indent="-304800" algn="l" rtl="0" fontAlgn="base">
        <a:spcBef>
          <a:spcPts val="130"/>
        </a:spcBef>
        <a:spcAft>
          <a:spcPct val="0"/>
        </a:spcAft>
        <a:buChar char="•"/>
        <a:defRPr sz="3200" kern="1200">
          <a:solidFill>
            <a:schemeClr val="tx1"/>
          </a:solidFill>
          <a:latin typeface="+mn-lt"/>
          <a:ea typeface="+mn-ea"/>
          <a:cs typeface="+mn-cs"/>
        </a:defRPr>
      </a:lvl3pPr>
      <a:lvl4pPr marL="2133600" indent="-304800" algn="l" rtl="0" fontAlgn="base">
        <a:spcBef>
          <a:spcPts val="130"/>
        </a:spcBef>
        <a:spcAft>
          <a:spcPct val="0"/>
        </a:spcAft>
        <a:buChar char="–"/>
        <a:defRPr sz="2665" kern="1200">
          <a:solidFill>
            <a:schemeClr val="tx1"/>
          </a:solidFill>
          <a:latin typeface="+mn-lt"/>
          <a:ea typeface="+mn-ea"/>
          <a:cs typeface="+mn-cs"/>
        </a:defRPr>
      </a:lvl4pPr>
      <a:lvl5pPr marL="2743200" indent="-304800" algn="l" rtl="0" fontAlgn="base">
        <a:spcBef>
          <a:spcPts val="130"/>
        </a:spcBef>
        <a:spcAft>
          <a:spcPct val="0"/>
        </a:spcAft>
        <a:buChar char="»"/>
        <a:defRPr sz="2665" kern="1200">
          <a:solidFill>
            <a:schemeClr val="tx1"/>
          </a:solidFill>
          <a:latin typeface="+mn-lt"/>
          <a:ea typeface="+mn-ea"/>
          <a:cs typeface="+mn-cs"/>
        </a:defRPr>
      </a:lvl5pPr>
      <a:lvl6pPr marL="3352800"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ct val="134000"/>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p:sp>
        <p:nvSpPr>
          <p:cNvPr id="5" name="Заголовок 1"/>
          <p:cNvSpPr>
            <a:spLocks noGrp="1"/>
          </p:cNvSpPr>
          <p:nvPr/>
        </p:nvSpPr>
        <p:spPr>
          <a:xfrm>
            <a:off x="2808605" y="1120775"/>
            <a:ext cx="10595610" cy="2287905"/>
          </a:xfrm>
          <a:prstGeom prst="rect">
            <a:avLst/>
          </a:prstGeom>
        </p:spPr>
        <p:txBody>
          <a:bodyPr vert="horz" lIns="91440" tIns="45720" rIns="91440" bIns="45720" rtlCol="0"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30000"/>
              </a:lnSpc>
            </a:pPr>
            <a:r>
              <a:rPr lang="en-US" sz="2000" b="1" dirty="0" err="1">
                <a:solidFill>
                  <a:schemeClr val="tx1"/>
                </a:solidFill>
                <a:latin typeface="Times New Roman" panose="02020603050405020304" charset="0"/>
                <a:cs typeface="Times New Roman" panose="02020603050405020304" charset="0"/>
              </a:rPr>
              <a:t>O‘ZB</a:t>
            </a:r>
            <a:r>
              <a:rPr lang="ru-RU" sz="2000" b="1" dirty="0">
                <a:solidFill>
                  <a:schemeClr val="tx1"/>
                </a:solidFill>
                <a:latin typeface="Times New Roman" panose="02020603050405020304" charset="0"/>
                <a:cs typeface="Times New Roman" panose="02020603050405020304" charset="0"/>
              </a:rPr>
              <a:t>Е</a:t>
            </a:r>
            <a:r>
              <a:rPr lang="en-US" sz="2000" b="1" dirty="0" err="1">
                <a:solidFill>
                  <a:schemeClr val="tx1"/>
                </a:solidFill>
                <a:latin typeface="Times New Roman" panose="02020603050405020304" charset="0"/>
                <a:cs typeface="Times New Roman" panose="02020603050405020304" charset="0"/>
              </a:rPr>
              <a:t>KISTON</a:t>
            </a:r>
            <a:r>
              <a:rPr lang="en-US" sz="2000" b="1" dirty="0">
                <a:solidFill>
                  <a:schemeClr val="tx1"/>
                </a:solidFill>
                <a:latin typeface="Times New Roman" panose="02020603050405020304" charset="0"/>
                <a:cs typeface="Times New Roman" panose="02020603050405020304" charset="0"/>
              </a:rPr>
              <a:t> R</a:t>
            </a:r>
            <a:r>
              <a:rPr lang="ru-RU" sz="2000" b="1" dirty="0">
                <a:solidFill>
                  <a:schemeClr val="tx1"/>
                </a:solidFill>
                <a:latin typeface="Times New Roman" panose="02020603050405020304" charset="0"/>
                <a:cs typeface="Times New Roman" panose="02020603050405020304" charset="0"/>
              </a:rPr>
              <a:t>Е</a:t>
            </a:r>
            <a:r>
              <a:rPr lang="en-US" sz="2000" b="1" dirty="0" err="1">
                <a:solidFill>
                  <a:schemeClr val="tx1"/>
                </a:solidFill>
                <a:latin typeface="Times New Roman" panose="02020603050405020304" charset="0"/>
                <a:cs typeface="Times New Roman" panose="02020603050405020304" charset="0"/>
              </a:rPr>
              <a:t>SPUBLIKASI</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OLIY</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TA’LIM</a:t>
            </a:r>
            <a:r>
              <a:rPr lang="en-US" sz="2000" b="1" dirty="0">
                <a:solidFill>
                  <a:schemeClr val="tx1"/>
                </a:solidFill>
                <a:latin typeface="Times New Roman" panose="02020603050405020304" charset="0"/>
                <a:cs typeface="Times New Roman" panose="02020603050405020304" charset="0"/>
              </a:rPr>
              <a:t>, FAN VA </a:t>
            </a:r>
            <a:r>
              <a:rPr lang="en-US" sz="2000" b="1" dirty="0" err="1">
                <a:solidFill>
                  <a:schemeClr val="tx1"/>
                </a:solidFill>
                <a:latin typeface="Times New Roman" panose="02020603050405020304" charset="0"/>
                <a:cs typeface="Times New Roman" panose="02020603050405020304" charset="0"/>
              </a:rPr>
              <a:t>INNOVATSIYALAR</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VAZIRLIGI</a:t>
            </a:r>
            <a:r>
              <a:rPr lang="en-US" sz="2000" b="1" dirty="0">
                <a:solidFill>
                  <a:schemeClr val="tx1"/>
                </a:solidFill>
                <a:latin typeface="Times New Roman" panose="02020603050405020304" charset="0"/>
                <a:cs typeface="Times New Roman" panose="02020603050405020304" charset="0"/>
              </a:rPr>
              <a:t> </a:t>
            </a:r>
            <a:br>
              <a:rPr lang="en-US" sz="2000" b="1" dirty="0">
                <a:solidFill>
                  <a:schemeClr val="tx1"/>
                </a:solidFill>
                <a:latin typeface="Times New Roman" panose="02020603050405020304" charset="0"/>
                <a:cs typeface="Times New Roman" panose="02020603050405020304" charset="0"/>
              </a:rPr>
            </a:br>
            <a:r>
              <a:rPr lang="en-US" sz="2000" b="1" dirty="0">
                <a:solidFill>
                  <a:schemeClr val="tx1"/>
                </a:solidFill>
                <a:latin typeface="Times New Roman" panose="02020603050405020304" charset="0"/>
                <a:cs typeface="Times New Roman" panose="02020603050405020304" charset="0"/>
              </a:rPr>
              <a:t>MUHAMMAD AL-</a:t>
            </a:r>
            <a:r>
              <a:rPr lang="en-US" sz="2000" b="1" dirty="0" err="1">
                <a:solidFill>
                  <a:schemeClr val="tx1"/>
                </a:solidFill>
                <a:latin typeface="Times New Roman" panose="02020603050405020304" charset="0"/>
                <a:cs typeface="Times New Roman" panose="02020603050405020304" charset="0"/>
              </a:rPr>
              <a:t>XORAZMIY</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NOMIDAGI</a:t>
            </a:r>
            <a:r>
              <a:rPr lang="en-US" sz="2000" b="1" dirty="0">
                <a:solidFill>
                  <a:schemeClr val="tx1"/>
                </a:solidFill>
                <a:latin typeface="Times New Roman" panose="02020603050405020304" charset="0"/>
                <a:cs typeface="Times New Roman" panose="02020603050405020304" charset="0"/>
              </a:rPr>
              <a:t> TOSHKENT </a:t>
            </a:r>
            <a:r>
              <a:rPr lang="en-US" sz="2000" b="1" dirty="0" err="1">
                <a:solidFill>
                  <a:schemeClr val="tx1"/>
                </a:solidFill>
                <a:latin typeface="Times New Roman" panose="02020603050405020304" charset="0"/>
                <a:cs typeface="Times New Roman" panose="02020603050405020304" charset="0"/>
              </a:rPr>
              <a:t>AXBOROT</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TEXNOLOGIYALARI</a:t>
            </a:r>
            <a:r>
              <a:rPr lang="en-US" sz="2000" b="1" dirty="0">
                <a:solidFill>
                  <a:schemeClr val="tx1"/>
                </a:solidFill>
                <a:latin typeface="Times New Roman" panose="02020603050405020304" charset="0"/>
                <a:cs typeface="Times New Roman" panose="02020603050405020304" charset="0"/>
              </a:rPr>
              <a:t> </a:t>
            </a:r>
            <a:r>
              <a:rPr lang="en-US" sz="2000" b="1" dirty="0" err="1">
                <a:solidFill>
                  <a:schemeClr val="tx1"/>
                </a:solidFill>
                <a:latin typeface="Times New Roman" panose="02020603050405020304" charset="0"/>
                <a:cs typeface="Times New Roman" panose="02020603050405020304" charset="0"/>
              </a:rPr>
              <a:t>UNIVERSITETI</a:t>
            </a:r>
            <a:r>
              <a:rPr lang="en-US" sz="2000" b="1" dirty="0">
                <a:solidFill>
                  <a:schemeClr val="tx1"/>
                </a:solidFill>
                <a:latin typeface="Times New Roman" panose="02020603050405020304" charset="0"/>
                <a:cs typeface="Times New Roman" panose="02020603050405020304" charset="0"/>
              </a:rPr>
              <a:t> SAMARQAND </a:t>
            </a:r>
            <a:r>
              <a:rPr lang="en-US" sz="2000" b="1" dirty="0" err="1">
                <a:solidFill>
                  <a:schemeClr val="tx1"/>
                </a:solidFill>
                <a:latin typeface="Times New Roman" panose="02020603050405020304" charset="0"/>
                <a:cs typeface="Times New Roman" panose="02020603050405020304" charset="0"/>
              </a:rPr>
              <a:t>FILIALI</a:t>
            </a:r>
            <a:br>
              <a:rPr lang="en-US" sz="2000" b="1" dirty="0">
                <a:solidFill>
                  <a:schemeClr val="tx1"/>
                </a:solidFill>
                <a:latin typeface="Times New Roman" panose="02020603050405020304" charset="0"/>
                <a:cs typeface="Times New Roman" panose="02020603050405020304" charset="0"/>
              </a:rPr>
            </a:br>
            <a:r>
              <a:rPr sz="2400" b="1">
                <a:solidFill>
                  <a:schemeClr val="tx1"/>
                </a:solidFill>
                <a:latin typeface="Times New Roman" panose="02020603050405020304" charset="0"/>
                <a:cs typeface="Times New Roman" panose="02020603050405020304" charset="0"/>
                <a:sym typeface="+mn-ea"/>
              </a:rPr>
              <a:t>IP Manzillarni Nazorat Qilish va Tarmoq Himoyasi</a:t>
            </a:r>
            <a:endParaRPr sz="2000" b="0" i="0">
              <a:solidFill>
                <a:srgbClr val="000000"/>
              </a:solidFill>
              <a:latin typeface="serif"/>
            </a:endParaRPr>
          </a:p>
          <a:p>
            <a:pPr>
              <a:lnSpc>
                <a:spcPct val="130000"/>
              </a:lnSpc>
            </a:pPr>
            <a:br>
              <a:rPr lang="en-US" sz="2000" b="1" dirty="0">
                <a:latin typeface="Times New Roman" panose="02020603050405020304" charset="0"/>
                <a:cs typeface="Times New Roman" panose="02020603050405020304" charset="0"/>
              </a:rPr>
            </a:br>
            <a:r>
              <a:rPr lang="en-US" altLang="ru-RU" sz="2800" b="1" dirty="0">
                <a:latin typeface="Times New Roman" panose="02020603050405020304" charset="0"/>
                <a:cs typeface="Times New Roman" panose="02020603050405020304" charset="0"/>
              </a:rPr>
              <a:t>Muhammadiyev Azamxon Jahongir o</a:t>
            </a:r>
            <a:r>
              <a:rPr lang="en-US" altLang="en-US" sz="2800" b="1" dirty="0">
                <a:latin typeface="Times New Roman" panose="02020603050405020304" charset="0"/>
                <a:cs typeface="Times New Roman" panose="02020603050405020304" charset="0"/>
              </a:rPr>
              <a:t>ʻ</a:t>
            </a:r>
            <a:r>
              <a:rPr lang="en-US" altLang="ru-RU" sz="2800" b="1" dirty="0">
                <a:latin typeface="Times New Roman" panose="02020603050405020304" charset="0"/>
                <a:cs typeface="Times New Roman" panose="02020603050405020304" charset="0"/>
              </a:rPr>
              <a:t>g</a:t>
            </a:r>
            <a:r>
              <a:rPr lang="en-US" altLang="en-US" sz="2800" b="1" dirty="0">
                <a:latin typeface="Times New Roman" panose="02020603050405020304" charset="0"/>
                <a:cs typeface="Times New Roman" panose="02020603050405020304" charset="0"/>
              </a:rPr>
              <a:t>ʻ</a:t>
            </a:r>
            <a:r>
              <a:rPr lang="en-US" altLang="ru-RU" sz="2800" b="1" dirty="0">
                <a:latin typeface="Times New Roman" panose="02020603050405020304" charset="0"/>
                <a:cs typeface="Times New Roman" panose="02020603050405020304" charset="0"/>
              </a:rPr>
              <a:t>li</a:t>
            </a:r>
            <a:br>
              <a:rPr lang="en-US" sz="2000" b="1" dirty="0">
                <a:latin typeface="Times New Roman" panose="02020603050405020304" charset="0"/>
                <a:cs typeface="Times New Roman" panose="02020603050405020304" charset="0"/>
              </a:rPr>
            </a:br>
            <a:br>
              <a:rPr lang="en-US" sz="2000" b="1" dirty="0">
                <a:solidFill>
                  <a:schemeClr val="accent5">
                    <a:lumMod val="75000"/>
                  </a:schemeClr>
                </a:solidFill>
                <a:latin typeface="Times New Roman" panose="02020603050405020304" charset="0"/>
                <a:cs typeface="Times New Roman" panose="02020603050405020304" charset="0"/>
              </a:rPr>
            </a:br>
            <a:endParaRPr lang="en-US" sz="2000" b="1" dirty="0">
              <a:solidFill>
                <a:schemeClr val="accent5">
                  <a:lumMod val="75000"/>
                </a:schemeClr>
              </a:solidFill>
              <a:latin typeface="Times New Roman" panose="02020603050405020304" charset="0"/>
              <a:cs typeface="Times New Roman" panose="02020603050405020304" charset="0"/>
            </a:endParaRPr>
          </a:p>
        </p:txBody>
      </p:sp>
      <p:pic>
        <p:nvPicPr>
          <p:cNvPr id="6" name="Рисунок 3"/>
          <p:cNvPicPr>
            <a:picLocks noChangeAspect="1"/>
          </p:cNvPicPr>
          <p:nvPr/>
        </p:nvPicPr>
        <p:blipFill>
          <a:blip r:embed="rId1"/>
          <a:stretch>
            <a:fillRect/>
          </a:stretch>
        </p:blipFill>
        <p:spPr>
          <a:xfrm>
            <a:off x="4137025" y="3232150"/>
            <a:ext cx="8766175" cy="833755"/>
          </a:xfrm>
          <a:prstGeom prst="rect">
            <a:avLst/>
          </a:prstGeom>
        </p:spPr>
      </p:pic>
      <p:sp>
        <p:nvSpPr>
          <p:cNvPr id="7" name="Подзаголовок 2"/>
          <p:cNvSpPr>
            <a:spLocks noGrp="1"/>
          </p:cNvSpPr>
          <p:nvPr/>
        </p:nvSpPr>
        <p:spPr>
          <a:xfrm>
            <a:off x="635" y="3871595"/>
            <a:ext cx="16254730" cy="5272405"/>
          </a:xfrm>
          <a:prstGeom prst="rect">
            <a:avLst/>
          </a:prstGeom>
        </p:spPr>
        <p:txBody>
          <a:bodyPr vert="horz" lIns="91440" tIns="45720" rIns="91440" bIns="45720" rtlCol="0">
            <a:normAutofit fontScale="90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1800" dirty="0">
              <a:latin typeface="Times New Roman" panose="02020603050405020304" charset="0"/>
              <a:cs typeface="Times New Roman" panose="02020603050405020304" charset="0"/>
            </a:endParaRPr>
          </a:p>
          <a:p>
            <a:r>
              <a:rPr lang="en-US" dirty="0" err="1">
                <a:effectLst/>
                <a:latin typeface="Times New Roman" panose="02020603050405020304" charset="0"/>
                <a:ea typeface="Calibri" panose="020F0502020204030204" charset="0"/>
                <a:cs typeface="Times New Roman" panose="02020603050405020304" charset="0"/>
              </a:rPr>
              <a:t>Bakalavr</a:t>
            </a:r>
            <a:r>
              <a:rPr lang="en-US" dirty="0">
                <a:effectLst/>
                <a:latin typeface="Times New Roman" panose="02020603050405020304" charset="0"/>
                <a:ea typeface="Calibri" panose="020F0502020204030204" charset="0"/>
                <a:cs typeface="Times New Roman" panose="02020603050405020304" charset="0"/>
              </a:rPr>
              <a:t> </a:t>
            </a:r>
            <a:r>
              <a:rPr lang="en-US" dirty="0" err="1">
                <a:effectLst/>
                <a:latin typeface="Times New Roman" panose="02020603050405020304" charset="0"/>
                <a:ea typeface="Calibri" panose="020F0502020204030204" charset="0"/>
                <a:cs typeface="Times New Roman" panose="02020603050405020304" charset="0"/>
              </a:rPr>
              <a:t>akademik</a:t>
            </a:r>
            <a:r>
              <a:rPr lang="en-US" dirty="0">
                <a:effectLst/>
                <a:latin typeface="Times New Roman" panose="02020603050405020304" charset="0"/>
                <a:ea typeface="Calibri" panose="020F0502020204030204" charset="0"/>
                <a:cs typeface="Times New Roman" panose="02020603050405020304" charset="0"/>
              </a:rPr>
              <a:t> darajasini olish uchun yozilgan</a:t>
            </a:r>
            <a:endParaRPr lang="ru-RU" dirty="0">
              <a:effectLst/>
              <a:latin typeface="Times New Roman" panose="02020603050405020304" charset="0"/>
              <a:ea typeface="Calibri" panose="020F05020202040302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b="1" dirty="0">
                <a:effectLst/>
                <a:latin typeface="Times New Roman" panose="02020603050405020304" charset="0"/>
                <a:ea typeface="Times New Roman" panose="02020603050405020304" charset="0"/>
              </a:rPr>
              <a:t>BITIRUV MALAKAVIY ISHI</a:t>
            </a:r>
            <a:endParaRPr lang="en-US" b="1" dirty="0">
              <a:effectLst/>
              <a:latin typeface="Times New Roman" panose="02020603050405020304" charset="0"/>
              <a:ea typeface="Times New Roman" panose="02020603050405020304" charset="0"/>
            </a:endParaRPr>
          </a:p>
          <a:p>
            <a:endParaRPr lang="en-US" b="1" dirty="0">
              <a:effectLst/>
              <a:latin typeface="Times New Roman" panose="02020603050405020304" charset="0"/>
              <a:ea typeface="Times New Roman" panose="02020603050405020304" charset="0"/>
            </a:endParaRPr>
          </a:p>
          <a:p>
            <a:endParaRPr lang="en-US" b="1" dirty="0">
              <a:effectLst/>
              <a:latin typeface="Times New Roman" panose="02020603050405020304" charset="0"/>
              <a:ea typeface="Times New Roman" panose="02020603050405020304" charset="0"/>
            </a:endParaRPr>
          </a:p>
          <a:p>
            <a:endParaRPr lang="en-US" b="1" dirty="0">
              <a:effectLst/>
              <a:latin typeface="Times New Roman" panose="02020603050405020304" charset="0"/>
              <a:ea typeface="Times New Roman" panose="02020603050405020304" charset="0"/>
            </a:endParaRPr>
          </a:p>
          <a:p>
            <a:endParaRPr lang="en-US" b="1" dirty="0">
              <a:effectLst/>
              <a:latin typeface="Times New Roman" panose="02020603050405020304" charset="0"/>
              <a:ea typeface="Times New Roman" panose="02020603050405020304" charset="0"/>
            </a:endParaRPr>
          </a:p>
          <a:p>
            <a:r>
              <a:rPr lang="en-US" b="1" dirty="0">
                <a:effectLst/>
                <a:latin typeface="Times New Roman" panose="02020603050405020304" charset="0"/>
                <a:ea typeface="Times New Roman" panose="02020603050405020304" charset="0"/>
              </a:rPr>
              <a:t>                                                                                                                           </a:t>
            </a:r>
            <a:r>
              <a:rPr lang="en-US" sz="2800" b="1" dirty="0">
                <a:effectLst/>
                <a:latin typeface="Times New Roman" panose="02020603050405020304" charset="0"/>
                <a:ea typeface="Calibri" panose="020F0502020204030204" charset="0"/>
                <a:cs typeface="Times New Roman" panose="02020603050405020304" charset="0"/>
              </a:rPr>
              <a:t>Ilmiy rahbar:</a:t>
            </a:r>
            <a:r>
              <a:rPr lang="en-US" sz="2800" dirty="0">
                <a:effectLst/>
                <a:latin typeface="Times New Roman" panose="02020603050405020304" charset="0"/>
                <a:ea typeface="Calibri" panose="020F0502020204030204" charset="0"/>
                <a:cs typeface="Times New Roman" panose="02020603050405020304" charset="0"/>
              </a:rPr>
              <a:t> </a:t>
            </a:r>
            <a:r>
              <a:rPr lang="en-US" altLang="ru-RU" sz="2800" dirty="0">
                <a:effectLst/>
                <a:latin typeface="Times New Roman" panose="02020603050405020304" charset="0"/>
                <a:ea typeface="Calibri" panose="020F0502020204030204" charset="0"/>
                <a:cs typeface="Times New Roman" panose="02020603050405020304" charset="0"/>
              </a:rPr>
              <a:t>Saidmurodov M</a:t>
            </a:r>
            <a:r>
              <a:rPr lang="en-US" sz="2800" dirty="0">
                <a:effectLst/>
                <a:latin typeface="Times New Roman" panose="02020603050405020304" charset="0"/>
                <a:ea typeface="Calibri" panose="020F0502020204030204" charset="0"/>
                <a:cs typeface="Times New Roman" panose="02020603050405020304" charset="0"/>
              </a:rPr>
              <a:t>.</a:t>
            </a:r>
            <a:endParaRPr lang="en-US" altLang="ru-RU" sz="2800" b="1" dirty="0">
              <a:latin typeface="Times New Roman" panose="02020603050405020304" charset="0"/>
              <a:cs typeface="Times New Roman" panose="02020603050405020304" charset="0"/>
            </a:endParaRPr>
          </a:p>
          <a:p>
            <a:endParaRPr lang="en-US" altLang="ru-RU" b="1" dirty="0">
              <a:latin typeface="Times New Roman" panose="02020603050405020304" charset="0"/>
              <a:cs typeface="Times New Roman" panose="02020603050405020304" charset="0"/>
            </a:endParaRPr>
          </a:p>
          <a:p>
            <a:endParaRPr lang="en-US" altLang="ru-RU" b="1" dirty="0">
              <a:latin typeface="Times New Roman" panose="02020603050405020304" charset="0"/>
              <a:cs typeface="Times New Roman" panose="02020603050405020304" charset="0"/>
            </a:endParaRPr>
          </a:p>
          <a:p>
            <a:endParaRPr lang="en-US" altLang="ru-RU" b="1" dirty="0">
              <a:latin typeface="Times New Roman" panose="02020603050405020304" charset="0"/>
              <a:cs typeface="Times New Roman" panose="02020603050405020304" charset="0"/>
            </a:endParaRPr>
          </a:p>
          <a:p>
            <a:r>
              <a:rPr lang="en-US" altLang="ru-RU" b="1" dirty="0">
                <a:latin typeface="Times New Roman" panose="02020603050405020304" charset="0"/>
                <a:cs typeface="Times New Roman" panose="02020603050405020304" charset="0"/>
              </a:rPr>
              <a:t>Samarqand-2026</a:t>
            </a:r>
            <a:endParaRPr lang="ru-RU" altLang="ru-RU" b="1" dirty="0">
              <a:latin typeface="Times New Roman" panose="02020603050405020304" charset="0"/>
              <a:cs typeface="Times New Roman" panose="02020603050405020304" charset="0"/>
            </a:endParaRPr>
          </a:p>
          <a:p>
            <a:endParaRPr lang="ru-RU" sz="1800" dirty="0">
              <a:latin typeface="Times New Roman" panose="02020603050405020304" charset="0"/>
              <a:cs typeface="Times New Roman" panose="02020603050405020304" charset="0"/>
            </a:endParaRPr>
          </a:p>
          <a:p>
            <a:endParaRPr lang="ru-RU" sz="1800"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p:sp>
        <p:nvSpPr>
          <p:cNvPr id="13" name="Текстовое поле 12"/>
          <p:cNvSpPr txBox="1"/>
          <p:nvPr/>
        </p:nvSpPr>
        <p:spPr>
          <a:xfrm>
            <a:off x="8790305" y="1247775"/>
            <a:ext cx="7332345" cy="1094740"/>
          </a:xfrm>
          <a:prstGeom prst="rect">
            <a:avLst/>
          </a:prstGeom>
        </p:spPr>
        <p:txBody>
          <a:bodyPr>
            <a:noAutofit/>
          </a:bodyPr>
          <a:p>
            <a:pPr algn="ctr">
              <a:spcAft>
                <a:spcPct val="0"/>
              </a:spcAft>
            </a:pPr>
            <a:endParaRPr sz="4400" b="1"/>
          </a:p>
          <a:p>
            <a:pPr marL="457200" lvl="1" indent="457200" algn="just"/>
            <a:r>
              <a:rPr sz="2800"/>
              <a:t>Bugungi kunda axborot texnologiyalarining rivojlanishi bilan birga kiberhujumlar soni ham ortib bormoqda. Tarmoqqa noqonuniy kirish, zararli faoliyat va ma’lumotlar o‘g‘irlanishining oldini olish uchun IP manzillarni nazorat qilish muhim ahamiyatga ega. IP manzillar orqali tarmoqdagi qurilmalarni aniqlash, shubhali faoliyatni kuzatish va xavfli manzillarni bloklash mumkin. Shu sababli IP manzillarini nazorat qilish orqali tarmoq himoyasini ta’minlash bugungi kunda dolzarb masalalardan biri hisoblanadi.</a:t>
            </a:r>
            <a:endParaRPr sz="2800"/>
          </a:p>
        </p:txBody>
      </p:sp>
      <p:pic>
        <p:nvPicPr>
          <p:cNvPr id="15" name="Изображение 14"/>
          <p:cNvPicPr/>
          <p:nvPr/>
        </p:nvPicPr>
        <p:blipFill>
          <a:blip r:embed="rId1"/>
          <a:stretch>
            <a:fillRect/>
          </a:stretch>
        </p:blipFill>
        <p:spPr>
          <a:xfrm>
            <a:off x="153035" y="1828800"/>
            <a:ext cx="8958580" cy="5903595"/>
          </a:xfrm>
          <a:prstGeom prst="rect">
            <a:avLst/>
          </a:prstGeom>
        </p:spPr>
      </p:pic>
      <p:sp>
        <p:nvSpPr>
          <p:cNvPr id="16" name="Текстовое поле 15"/>
          <p:cNvSpPr txBox="1"/>
          <p:nvPr/>
        </p:nvSpPr>
        <p:spPr>
          <a:xfrm>
            <a:off x="137160" y="813435"/>
            <a:ext cx="15963900" cy="1049020"/>
          </a:xfrm>
          <a:prstGeom prst="rect">
            <a:avLst/>
          </a:prstGeom>
          <a:noFill/>
        </p:spPr>
        <p:txBody>
          <a:bodyPr wrap="square" rtlCol="0">
            <a:noAutofit/>
          </a:bodyPr>
          <a:p>
            <a:pPr algn="ctr">
              <a:spcAft>
                <a:spcPct val="0"/>
              </a:spcAft>
            </a:pPr>
            <a:r>
              <a:rPr sz="4000" b="1">
                <a:sym typeface="+mn-ea"/>
              </a:rPr>
              <a:t>Mavzuning dolzarbligi</a:t>
            </a:r>
            <a:endParaRPr lang="ru-RU" altLang="en-US" sz="4000" b="1">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Текстовое поле 1"/>
          <p:cNvSpPr txBox="1"/>
          <p:nvPr/>
        </p:nvSpPr>
        <p:spPr>
          <a:xfrm>
            <a:off x="415925" y="1463675"/>
            <a:ext cx="6547485" cy="6097905"/>
          </a:xfrm>
          <a:prstGeom prst="rect">
            <a:avLst/>
          </a:prstGeom>
        </p:spPr>
        <p:txBody>
          <a:bodyPr>
            <a:noAutofit/>
          </a:bodyPr>
          <a:p>
            <a:pPr algn="ctr">
              <a:spcAft>
                <a:spcPct val="0"/>
              </a:spcAft>
            </a:pPr>
            <a:endParaRPr sz="4400" b="1"/>
          </a:p>
          <a:p>
            <a:pPr marL="457200" lvl="1" indent="457200" algn="just"/>
            <a:r>
              <a:rPr sz="3600"/>
              <a:t>Tarmoqdagi IP manzillarni kuzatish, tahlil qilish va nazorat qilish orqali axborot xavfsizligini ta’minlash hamda zararli yoki noma’lum IP manzillarni aniqlab, ularga qarshi himoya choralarini ishlab chiqishdan iborat.</a:t>
            </a:r>
            <a:endParaRPr sz="3600"/>
          </a:p>
        </p:txBody>
      </p:sp>
      <p:sp>
        <p:nvSpPr>
          <p:cNvPr id="3" name="Текстовое поле 2"/>
          <p:cNvSpPr txBox="1"/>
          <p:nvPr/>
        </p:nvSpPr>
        <p:spPr>
          <a:xfrm>
            <a:off x="415925" y="700405"/>
            <a:ext cx="15600045" cy="969010"/>
          </a:xfrm>
          <a:prstGeom prst="rect">
            <a:avLst/>
          </a:prstGeom>
          <a:noFill/>
        </p:spPr>
        <p:txBody>
          <a:bodyPr wrap="square" rtlCol="0">
            <a:noAutofit/>
          </a:bodyPr>
          <a:p>
            <a:pPr algn="ctr">
              <a:spcAft>
                <a:spcPct val="0"/>
              </a:spcAft>
            </a:pPr>
            <a:r>
              <a:rPr sz="4400" b="1">
                <a:sym typeface="+mn-ea"/>
              </a:rPr>
              <a:t>Tadqiqotning maqsadi</a:t>
            </a:r>
            <a:endParaRPr lang="ru-RU" altLang="en-US" sz="4400" b="1">
              <a:sym typeface="+mn-ea"/>
            </a:endParaRPr>
          </a:p>
        </p:txBody>
      </p:sp>
      <p:pic>
        <p:nvPicPr>
          <p:cNvPr id="4" name="Изображение 3"/>
          <p:cNvPicPr/>
          <p:nvPr/>
        </p:nvPicPr>
        <p:blipFill>
          <a:blip r:embed="rId1"/>
          <a:stretch>
            <a:fillRect/>
          </a:stretch>
        </p:blipFill>
        <p:spPr>
          <a:xfrm>
            <a:off x="7275830" y="1805305"/>
            <a:ext cx="8740140" cy="5755640"/>
          </a:xfrm>
          <a:prstGeom prst="round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p:sp>
        <p:nvSpPr>
          <p:cNvPr id="5" name="TextBox 4"/>
          <p:cNvSpPr txBox="1"/>
          <p:nvPr/>
        </p:nvSpPr>
        <p:spPr>
          <a:xfrm>
            <a:off x="1333500" y="5588000"/>
            <a:ext cx="5994400" cy="1371600"/>
          </a:xfrm>
          <a:prstGeom prst="rect">
            <a:avLst/>
          </a:prstGeom>
          <a:noFill/>
        </p:spPr>
        <p:txBody>
          <a:bodyPr wrap="square" lIns="0" tIns="0" rIns="0" bIns="0">
            <a:spAutoFit/>
          </a:bodyPr>
          <a:lstStyle/>
          <a:p>
            <a:pPr>
              <a:lnSpc>
                <a:spcPct val="120000"/>
              </a:lnSpc>
              <a:defRPr sz="2400" b="0" i="0">
                <a:solidFill>
                  <a:srgbClr val="FFFFFF"/>
                </a:solidFill>
                <a:latin typeface="Inter"/>
              </a:defRPr>
            </a:pPr>
            <a:r>
              <a:rPr sz="2400" b="0" i="0">
                <a:solidFill>
                  <a:srgbClr val="FFFFFF"/>
                </a:solidFill>
                <a:latin typeface="Inter"/>
              </a:rPr>
              <a:t>IPv6 128 bitli va 3.4×10^38 noyob manzil taqdim etadi, avtomatik konfiguratsiya va IPSec xavfsizlik protokoli mavjud.</a:t>
            </a:r>
            <a:endParaRPr sz="2400" b="0" i="0">
              <a:solidFill>
                <a:srgbClr val="FFFFFF"/>
              </a:solidFill>
              <a:latin typeface="Inter"/>
            </a:endParaRPr>
          </a:p>
        </p:txBody>
      </p:sp>
      <p:sp>
        <p:nvSpPr>
          <p:cNvPr id="9" name="TextBox 8"/>
          <p:cNvSpPr txBox="1"/>
          <p:nvPr/>
        </p:nvSpPr>
        <p:spPr>
          <a:xfrm>
            <a:off x="2955290" y="781685"/>
            <a:ext cx="10820400" cy="768985"/>
          </a:xfrm>
          <a:prstGeom prst="rect">
            <a:avLst/>
          </a:prstGeom>
          <a:noFill/>
        </p:spPr>
        <p:txBody>
          <a:bodyPr wrap="square" lIns="0" tIns="0" rIns="0" bIns="0">
            <a:spAutoFit/>
          </a:bodyPr>
          <a:lstStyle/>
          <a:p>
            <a:pPr algn="ctr">
              <a:defRPr sz="5000" b="0" i="0">
                <a:solidFill>
                  <a:srgbClr val="000000"/>
                </a:solidFill>
                <a:latin typeface="serif"/>
              </a:defRPr>
            </a:pPr>
            <a:r>
              <a:rPr sz="5000" b="0" i="0">
                <a:solidFill>
                  <a:srgbClr val="000000"/>
                </a:solidFill>
                <a:latin typeface="serif"/>
              </a:rPr>
              <a:t>IP manzillar</a:t>
            </a:r>
            <a:r>
              <a:rPr lang="en-US" sz="5000" b="0" i="0">
                <a:solidFill>
                  <a:srgbClr val="000000"/>
                </a:solidFill>
                <a:latin typeface="serif"/>
              </a:rPr>
              <a:t>ni nazorat qilish</a:t>
            </a:r>
            <a:endParaRPr lang="en-US" sz="5000" b="0" i="0">
              <a:solidFill>
                <a:srgbClr val="000000"/>
              </a:solidFill>
              <a:latin typeface="serif"/>
            </a:endParaRPr>
          </a:p>
        </p:txBody>
      </p:sp>
      <p:sp>
        <p:nvSpPr>
          <p:cNvPr id="6" name="Текстовое поле 5"/>
          <p:cNvSpPr txBox="1"/>
          <p:nvPr/>
        </p:nvSpPr>
        <p:spPr>
          <a:xfrm>
            <a:off x="0" y="2138045"/>
            <a:ext cx="15959455" cy="2899410"/>
          </a:xfrm>
          <a:prstGeom prst="rect">
            <a:avLst/>
          </a:prstGeom>
        </p:spPr>
        <p:txBody>
          <a:bodyPr>
            <a:noAutofit/>
          </a:bodyPr>
          <a:p>
            <a:pPr marL="457200" lvl="1" indent="457200"/>
            <a:r>
              <a:rPr sz="2800">
                <a:latin typeface="Segoe Print" panose="02000600000000000000" charset="0"/>
                <a:cs typeface="Segoe Print" panose="02000600000000000000" charset="0"/>
              </a:rPr>
              <a:t>IP manzillarini nazorat qilish — bu tarmoqdagi har bir qurilmaning IP manzilini kuzatish, ularning faoliyatini tahlil qilish va xavfli manzillarni aniqlash jarayonidir. Ushbu jarayon orqali tarmoqqa kim ulanayotganini, qaysi qurilma qanday faoliyat olib borayotganini va shubhali harakatlar mavjudligini aniqlash mumkin. Agar noma’lum yoki zararli IP manzil aniqlansa, uni bloklash orqali tarmoqni himoya qilish mumkin. Shu sababli IP manzillarini nazorat qilish axborot xavfsizligini ta’minlashning muhim usullaridan biri hisoblanadi.</a:t>
            </a:r>
            <a:endParaRPr sz="2800">
              <a:latin typeface="Segoe Print" panose="02000600000000000000" charset="0"/>
              <a:cs typeface="Segoe Print" panose="02000600000000000000" charset="0"/>
            </a:endParaRPr>
          </a:p>
        </p:txBody>
      </p:sp>
      <p:pic>
        <p:nvPicPr>
          <p:cNvPr id="2" name="Изображение 1"/>
          <p:cNvPicPr/>
          <p:nvPr/>
        </p:nvPicPr>
        <p:blipFill>
          <a:blip r:embed="rId1"/>
          <a:stretch>
            <a:fillRect/>
          </a:stretch>
        </p:blipFill>
        <p:spPr>
          <a:xfrm>
            <a:off x="1149985" y="5393690"/>
            <a:ext cx="13658850" cy="35636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p:sp>
        <p:nvSpPr>
          <p:cNvPr id="3" name="Rounded Rectangle 2"/>
          <p:cNvSpPr/>
          <p:nvPr/>
        </p:nvSpPr>
        <p:spPr>
          <a:xfrm rot="5400000">
            <a:off x="1870710" y="-1905"/>
            <a:ext cx="4238625" cy="7493000"/>
          </a:xfrm>
          <a:prstGeom prst="roundRect">
            <a:avLst>
              <a:gd name="adj" fmla="val 40000"/>
            </a:avLst>
          </a:prstGeom>
          <a:solidFill>
            <a:srgbClr val="F4C430"/>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TextBox 3"/>
          <p:cNvSpPr txBox="1"/>
          <p:nvPr/>
        </p:nvSpPr>
        <p:spPr>
          <a:xfrm>
            <a:off x="749935" y="2722245"/>
            <a:ext cx="5867400" cy="1282700"/>
          </a:xfrm>
          <a:prstGeom prst="rect">
            <a:avLst/>
          </a:prstGeom>
          <a:noFill/>
        </p:spPr>
        <p:txBody>
          <a:bodyPr wrap="square" lIns="0" tIns="0" rIns="0" bIns="0">
            <a:spAutoFit/>
          </a:bodyPr>
          <a:lstStyle/>
          <a:p>
            <a:pPr algn="l">
              <a:lnSpc>
                <a:spcPct val="90000"/>
              </a:lnSpc>
              <a:defRPr sz="4200" b="1" i="0">
                <a:solidFill>
                  <a:srgbClr val="1A1A1A"/>
                </a:solidFill>
                <a:latin typeface="serif"/>
              </a:defRPr>
            </a:pPr>
            <a:r>
              <a:rPr sz="4200" b="1" i="0">
                <a:solidFill>
                  <a:srgbClr val="1A1A1A"/>
                </a:solidFill>
                <a:latin typeface="serif"/>
              </a:rPr>
              <a:t>IP manzillash tizimi ishlash prinsiplari</a:t>
            </a:r>
            <a:endParaRPr sz="4200" b="1" i="0">
              <a:solidFill>
                <a:srgbClr val="1A1A1A"/>
              </a:solidFill>
              <a:latin typeface="serif"/>
            </a:endParaRPr>
          </a:p>
        </p:txBody>
      </p:sp>
      <p:sp>
        <p:nvSpPr>
          <p:cNvPr id="5" name="TextBox 4"/>
          <p:cNvSpPr txBox="1"/>
          <p:nvPr/>
        </p:nvSpPr>
        <p:spPr>
          <a:xfrm>
            <a:off x="667385" y="3871595"/>
            <a:ext cx="5867400" cy="635000"/>
          </a:xfrm>
          <a:prstGeom prst="rect">
            <a:avLst/>
          </a:prstGeom>
          <a:noFill/>
        </p:spPr>
        <p:txBody>
          <a:bodyPr wrap="square" lIns="0" tIns="0" rIns="0" bIns="0">
            <a:spAutoFit/>
          </a:bodyPr>
          <a:lstStyle/>
          <a:p>
            <a:pPr>
              <a:defRPr sz="4200" b="1" i="0">
                <a:solidFill>
                  <a:srgbClr val="1A1A1A"/>
                </a:solidFill>
                <a:latin typeface="serif"/>
              </a:defRPr>
            </a:pPr>
            <a:r>
              <a:rPr sz="4200" b="1" i="0">
                <a:solidFill>
                  <a:srgbClr val="1A1A1A"/>
                </a:solidFill>
                <a:latin typeface="serif"/>
              </a:rPr>
              <a:t>OSI va TCP/IP</a:t>
            </a:r>
            <a:endParaRPr sz="4200" b="1" i="0">
              <a:solidFill>
                <a:srgbClr val="1A1A1A"/>
              </a:solidFill>
              <a:latin typeface="serif"/>
            </a:endParaRPr>
          </a:p>
        </p:txBody>
      </p:sp>
      <p:sp>
        <p:nvSpPr>
          <p:cNvPr id="6" name="Rounded Rectangle 5"/>
          <p:cNvSpPr/>
          <p:nvPr/>
        </p:nvSpPr>
        <p:spPr>
          <a:xfrm>
            <a:off x="7045325" y="5245100"/>
            <a:ext cx="8420100" cy="3124200"/>
          </a:xfrm>
          <a:prstGeom prst="roundRect">
            <a:avLst>
              <a:gd name="adj" fmla="val 32520"/>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7" name="TextBox 6"/>
          <p:cNvSpPr txBox="1"/>
          <p:nvPr/>
        </p:nvSpPr>
        <p:spPr>
          <a:xfrm>
            <a:off x="7378700" y="5689600"/>
            <a:ext cx="7429500" cy="889000"/>
          </a:xfrm>
          <a:prstGeom prst="rect">
            <a:avLst/>
          </a:prstGeom>
          <a:noFill/>
        </p:spPr>
        <p:txBody>
          <a:bodyPr wrap="square" lIns="0" tIns="0" rIns="0" bIns="0">
            <a:spAutoFit/>
          </a:bodyPr>
          <a:lstStyle/>
          <a:p>
            <a:pPr>
              <a:defRPr sz="2200" b="0" i="0">
                <a:solidFill>
                  <a:srgbClr val="FFFFFF"/>
                </a:solidFill>
                <a:latin typeface="Inter"/>
              </a:defRPr>
            </a:pPr>
            <a:r>
              <a:rPr sz="2200" b="0" i="0">
                <a:solidFill>
                  <a:srgbClr val="FFFFFF"/>
                </a:solidFill>
                <a:latin typeface="Inter"/>
              </a:rPr>
              <a:t>Subnetlash yordamida kattaroq tarmoq kichik, boshqarish oson va xavfsiz qismlarga bo‘linadi.</a:t>
            </a:r>
            <a:endParaRPr sz="2200" b="0" i="0">
              <a:solidFill>
                <a:srgbClr val="FFFFFF"/>
              </a:solidFill>
              <a:latin typeface="Inter"/>
            </a:endParaRPr>
          </a:p>
        </p:txBody>
      </p:sp>
      <p:sp>
        <p:nvSpPr>
          <p:cNvPr id="8" name="TextBox 7"/>
          <p:cNvSpPr txBox="1"/>
          <p:nvPr/>
        </p:nvSpPr>
        <p:spPr>
          <a:xfrm>
            <a:off x="7378700" y="6578600"/>
            <a:ext cx="7429500" cy="1346200"/>
          </a:xfrm>
          <a:prstGeom prst="rect">
            <a:avLst/>
          </a:prstGeom>
          <a:noFill/>
        </p:spPr>
        <p:txBody>
          <a:bodyPr wrap="square" lIns="0" tIns="0" rIns="0" bIns="0">
            <a:spAutoFit/>
          </a:bodyPr>
          <a:lstStyle/>
          <a:p>
            <a:pPr>
              <a:lnSpc>
                <a:spcPct val="130000"/>
              </a:lnSpc>
              <a:defRPr sz="2200" b="0" i="0">
                <a:solidFill>
                  <a:srgbClr val="FFFFFF"/>
                </a:solidFill>
                <a:latin typeface="Inter"/>
              </a:defRPr>
            </a:pPr>
            <a:r>
              <a:rPr sz="2200" b="0" i="0">
                <a:solidFill>
                  <a:srgbClr val="FFFFFF"/>
                </a:solidFill>
                <a:latin typeface="Inter"/>
              </a:rPr>
              <a:t>Har bir subnet uchun tarmoq manzili va subnet maskasi aniqlanadi, bu trafikni samarali boshqarishga imkon beradi.</a:t>
            </a:r>
            <a:endParaRPr sz="2200" b="0" i="0">
              <a:solidFill>
                <a:srgbClr val="FFFFFF"/>
              </a:solidFill>
              <a:latin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330835" y="178435"/>
            <a:ext cx="7797165" cy="8828405"/>
          </a:xfrm>
          <a:prstGeom prst="roundRect">
            <a:avLst>
              <a:gd name="adj" fmla="val 12519"/>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3" name="TextBox 2"/>
          <p:cNvSpPr txBox="1"/>
          <p:nvPr/>
        </p:nvSpPr>
        <p:spPr>
          <a:xfrm>
            <a:off x="825500" y="1651000"/>
            <a:ext cx="6515100" cy="1397000"/>
          </a:xfrm>
          <a:prstGeom prst="rect">
            <a:avLst/>
          </a:prstGeom>
          <a:noFill/>
        </p:spPr>
        <p:txBody>
          <a:bodyPr wrap="square" lIns="0" tIns="0" rIns="0" bIns="0">
            <a:spAutoFit/>
          </a:bodyPr>
          <a:lstStyle/>
          <a:p>
            <a:pPr algn="l">
              <a:defRPr sz="4600" b="1" i="0">
                <a:solidFill>
                  <a:srgbClr val="FFFFFF"/>
                </a:solidFill>
                <a:latin typeface="Georgia" panose="02040502050405020303"/>
              </a:defRPr>
            </a:pPr>
            <a:r>
              <a:rPr sz="4600" b="1" i="0">
                <a:solidFill>
                  <a:srgbClr val="FFFFFF"/>
                </a:solidFill>
                <a:latin typeface="Georgia" panose="02040502050405020303"/>
              </a:rPr>
              <a:t>Tarmoq xavfsizligi va asosiy tahdidlar</a:t>
            </a:r>
            <a:endParaRPr sz="4600" b="1" i="0">
              <a:solidFill>
                <a:srgbClr val="FFFFFF"/>
              </a:solidFill>
              <a:latin typeface="Georgia" panose="02040502050405020303"/>
            </a:endParaRPr>
          </a:p>
        </p:txBody>
      </p:sp>
      <p:sp>
        <p:nvSpPr>
          <p:cNvPr id="4" name="TextBox 3"/>
          <p:cNvSpPr txBox="1"/>
          <p:nvPr/>
        </p:nvSpPr>
        <p:spPr>
          <a:xfrm>
            <a:off x="825500" y="38354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Tarmoq xavfsizligining asosiy tamoyillari: maxfiylik axborot faqat ruxsat etilgan shaxslar uchun ochiq.</a:t>
            </a:r>
            <a:endParaRPr sz="1800" b="0" i="0">
              <a:solidFill>
                <a:srgbClr val="FFFFFF"/>
              </a:solidFill>
              <a:latin typeface="Inter"/>
            </a:endParaRPr>
          </a:p>
        </p:txBody>
      </p:sp>
      <p:sp>
        <p:nvSpPr>
          <p:cNvPr id="5" name="TextBox 4"/>
          <p:cNvSpPr txBox="1"/>
          <p:nvPr/>
        </p:nvSpPr>
        <p:spPr>
          <a:xfrm>
            <a:off x="825500" y="45593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Butunlik axborot buzilmasligi va o'zgartirilmasligini ta'minlaydi.</a:t>
            </a:r>
            <a:endParaRPr sz="1800" b="0" i="0">
              <a:solidFill>
                <a:srgbClr val="FFFFFF"/>
              </a:solidFill>
              <a:latin typeface="Inter"/>
            </a:endParaRPr>
          </a:p>
        </p:txBody>
      </p:sp>
      <p:sp>
        <p:nvSpPr>
          <p:cNvPr id="6" name="TextBox 5"/>
          <p:cNvSpPr txBox="1"/>
          <p:nvPr/>
        </p:nvSpPr>
        <p:spPr>
          <a:xfrm>
            <a:off x="825500" y="52959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Mavjudlik tizim va ma'lumotlarning doimiy ishlashini kafolatlaydi.</a:t>
            </a:r>
            <a:endParaRPr sz="1800" b="0" i="0">
              <a:solidFill>
                <a:srgbClr val="FFFFFF"/>
              </a:solidFill>
              <a:latin typeface="Inter"/>
            </a:endParaRPr>
          </a:p>
        </p:txBody>
      </p:sp>
      <p:sp>
        <p:nvSpPr>
          <p:cNvPr id="7" name="TextBox 6"/>
          <p:cNvSpPr txBox="1"/>
          <p:nvPr/>
        </p:nvSpPr>
        <p:spPr>
          <a:xfrm>
            <a:off x="825500" y="60198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Ichki tahdidlar misoli sifatida xodimlarning ruxsatsiz ma'lumotlarga kirishi keltirildi.</a:t>
            </a:r>
            <a:endParaRPr sz="1800" b="0" i="0">
              <a:solidFill>
                <a:srgbClr val="FFFFFF"/>
              </a:solidFill>
              <a:latin typeface="Inter"/>
            </a:endParaRPr>
          </a:p>
        </p:txBody>
      </p:sp>
      <p:sp>
        <p:nvSpPr>
          <p:cNvPr id="8" name="TextBox 7"/>
          <p:cNvSpPr txBox="1"/>
          <p:nvPr/>
        </p:nvSpPr>
        <p:spPr>
          <a:xfrm>
            <a:off x="825500" y="67564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Tashqi tahdid sifatida esa phishing va tarmoq ustidan hujumlar o'rganildi.</a:t>
            </a:r>
            <a:endParaRPr sz="1800" b="0" i="0">
              <a:solidFill>
                <a:srgbClr val="FFFFFF"/>
              </a:solidFill>
              <a:latin typeface="Inter"/>
            </a:endParaRPr>
          </a:p>
        </p:txBody>
      </p:sp>
      <p:sp>
        <p:nvSpPr>
          <p:cNvPr id="9" name="TextBox 8"/>
          <p:cNvSpPr txBox="1"/>
          <p:nvPr/>
        </p:nvSpPr>
        <p:spPr>
          <a:xfrm>
            <a:off x="8940800" y="2794000"/>
            <a:ext cx="6515100" cy="1772920"/>
          </a:xfrm>
          <a:prstGeom prst="rect">
            <a:avLst/>
          </a:prstGeom>
          <a:noFill/>
        </p:spPr>
        <p:txBody>
          <a:bodyPr wrap="square" lIns="0" tIns="0" rIns="0" bIns="0">
            <a:noAutofit/>
          </a:bodyPr>
          <a:lstStyle/>
          <a:p>
            <a:pPr>
              <a:lnSpc>
                <a:spcPct val="100000"/>
              </a:lnSpc>
              <a:defRPr sz="3600" b="1" i="0">
                <a:solidFill>
                  <a:srgbClr val="000000"/>
                </a:solidFill>
                <a:latin typeface="Georgia" panose="02040502050405020303"/>
              </a:defRPr>
            </a:pPr>
            <a:r>
              <a:rPr sz="3600" b="1" i="0">
                <a:solidFill>
                  <a:srgbClr val="000000"/>
                </a:solidFill>
                <a:latin typeface="Georgia" panose="02040502050405020303"/>
              </a:rPr>
              <a:t>Narsalar interneti, bulutli texnologiyalar, ransomware va sun’iy intellekt</a:t>
            </a:r>
            <a:endParaRPr sz="3600" b="1" i="0">
              <a:solidFill>
                <a:srgbClr val="000000"/>
              </a:solidFill>
              <a:latin typeface="Georgia" panose="02040502050405020303"/>
            </a:endParaRPr>
          </a:p>
        </p:txBody>
      </p:sp>
      <p:sp>
        <p:nvSpPr>
          <p:cNvPr id="10" name="TextBox 9"/>
          <p:cNvSpPr txBox="1"/>
          <p:nvPr/>
        </p:nvSpPr>
        <p:spPr>
          <a:xfrm>
            <a:off x="8940800" y="4889500"/>
            <a:ext cx="6515100" cy="736600"/>
          </a:xfrm>
          <a:prstGeom prst="rect">
            <a:avLst/>
          </a:prstGeom>
          <a:noFill/>
        </p:spPr>
        <p:txBody>
          <a:bodyPr wrap="square" lIns="0" tIns="0" rIns="0" bIns="0">
            <a:spAutoFit/>
          </a:bodyPr>
          <a:lstStyle/>
          <a:p>
            <a:pPr>
              <a:lnSpc>
                <a:spcPct val="130000"/>
              </a:lnSpc>
              <a:defRPr sz="1800" b="0" i="0">
                <a:solidFill>
                  <a:srgbClr val="000000"/>
                </a:solidFill>
                <a:latin typeface="Inter"/>
              </a:defRPr>
            </a:pPr>
            <a:r>
              <a:rPr sz="1800" b="0" i="0">
                <a:solidFill>
                  <a:srgbClr val="000000"/>
                </a:solidFill>
                <a:latin typeface="Inter"/>
              </a:rPr>
              <a:t>Narsalar interneti qurilmalari orqali kiritilgan zaifliklar ko'paymoqda, ularning nazoratsizligi katta xavf tug'diradi.</a:t>
            </a:r>
            <a:endParaRPr sz="1800" b="0" i="0">
              <a:solidFill>
                <a:srgbClr val="000000"/>
              </a:solidFill>
              <a:latin typeface="Inter"/>
            </a:endParaRPr>
          </a:p>
        </p:txBody>
      </p:sp>
      <p:sp>
        <p:nvSpPr>
          <p:cNvPr id="11" name="TextBox 10"/>
          <p:cNvSpPr txBox="1"/>
          <p:nvPr/>
        </p:nvSpPr>
        <p:spPr>
          <a:xfrm>
            <a:off x="8940800" y="6032500"/>
            <a:ext cx="6515100" cy="736600"/>
          </a:xfrm>
          <a:prstGeom prst="rect">
            <a:avLst/>
          </a:prstGeom>
          <a:noFill/>
        </p:spPr>
        <p:txBody>
          <a:bodyPr wrap="square" lIns="0" tIns="0" rIns="0" bIns="0">
            <a:spAutoFit/>
          </a:bodyPr>
          <a:lstStyle/>
          <a:p>
            <a:pPr>
              <a:lnSpc>
                <a:spcPct val="130000"/>
              </a:lnSpc>
              <a:defRPr sz="1800" b="0" i="0">
                <a:solidFill>
                  <a:srgbClr val="000000"/>
                </a:solidFill>
                <a:latin typeface="Inter"/>
              </a:defRPr>
            </a:pPr>
            <a:r>
              <a:rPr sz="1800" b="0" i="0">
                <a:solidFill>
                  <a:srgbClr val="000000"/>
                </a:solidFill>
                <a:latin typeface="Inter"/>
              </a:rPr>
              <a:t>Bulutli texnologiyalar xavfsizlikni markazlashtirishni talab qilib, yangi hujum ssenariylarini yuzaga keltiradi.</a:t>
            </a:r>
            <a:endParaRPr sz="1800" b="0" i="0">
              <a:solidFill>
                <a:srgbClr val="000000"/>
              </a:solidFill>
              <a:latin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p:sp>
        <p:nvSpPr>
          <p:cNvPr id="2" name="Rounded Rectangle 1"/>
          <p:cNvSpPr/>
          <p:nvPr/>
        </p:nvSpPr>
        <p:spPr>
          <a:xfrm>
            <a:off x="-635" y="6337300"/>
            <a:ext cx="16257270" cy="2775585"/>
          </a:xfrm>
          <a:prstGeom prst="roundRect">
            <a:avLst>
              <a:gd name="adj" fmla="val 3636"/>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3" name="Rounded Rectangle 2"/>
          <p:cNvSpPr/>
          <p:nvPr/>
        </p:nvSpPr>
        <p:spPr>
          <a:xfrm>
            <a:off x="8128000" y="12700"/>
            <a:ext cx="8115300" cy="9100820"/>
          </a:xfrm>
          <a:prstGeom prst="roundRect">
            <a:avLst>
              <a:gd name="adj" fmla="val 18779"/>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TextBox 3"/>
          <p:cNvSpPr txBox="1"/>
          <p:nvPr/>
        </p:nvSpPr>
        <p:spPr>
          <a:xfrm>
            <a:off x="8940800" y="2870200"/>
            <a:ext cx="6515100" cy="1460500"/>
          </a:xfrm>
          <a:prstGeom prst="rect">
            <a:avLst/>
          </a:prstGeom>
          <a:noFill/>
        </p:spPr>
        <p:txBody>
          <a:bodyPr wrap="square" lIns="0" tIns="0" rIns="0" bIns="0">
            <a:spAutoFit/>
          </a:bodyPr>
          <a:lstStyle/>
          <a:p>
            <a:pPr>
              <a:lnSpc>
                <a:spcPct val="130000"/>
              </a:lnSpc>
              <a:defRPr sz="2400" b="0" i="0">
                <a:solidFill>
                  <a:srgbClr val="E5E7EB"/>
                </a:solidFill>
                <a:latin typeface="Inter"/>
              </a:defRPr>
            </a:pPr>
            <a:r>
              <a:rPr sz="2400" b="0" i="0">
                <a:solidFill>
                  <a:srgbClr val="E5E7EB"/>
                </a:solidFill>
                <a:latin typeface="Inter"/>
              </a:rPr>
              <a:t>DoS va DDoS hujumlari terabaytlar kesimida trafik yukini oshirib tarmoq xizmatlarini to'xtatadi.</a:t>
            </a:r>
            <a:endParaRPr sz="2400" b="0" i="0">
              <a:solidFill>
                <a:srgbClr val="E5E7EB"/>
              </a:solidFill>
              <a:latin typeface="Inter"/>
            </a:endParaRPr>
          </a:p>
        </p:txBody>
      </p:sp>
      <p:sp>
        <p:nvSpPr>
          <p:cNvPr id="5" name="TextBox 4"/>
          <p:cNvSpPr txBox="1"/>
          <p:nvPr/>
        </p:nvSpPr>
        <p:spPr>
          <a:xfrm>
            <a:off x="8940800" y="4330700"/>
            <a:ext cx="6515100" cy="1460500"/>
          </a:xfrm>
          <a:prstGeom prst="rect">
            <a:avLst/>
          </a:prstGeom>
          <a:noFill/>
        </p:spPr>
        <p:txBody>
          <a:bodyPr wrap="square" lIns="0" tIns="0" rIns="0" bIns="0">
            <a:spAutoFit/>
          </a:bodyPr>
          <a:lstStyle/>
          <a:p>
            <a:pPr>
              <a:lnSpc>
                <a:spcPct val="130000"/>
              </a:lnSpc>
              <a:defRPr sz="2400" b="0" i="0">
                <a:solidFill>
                  <a:srgbClr val="E5E7EB"/>
                </a:solidFill>
                <a:latin typeface="Inter"/>
              </a:defRPr>
            </a:pPr>
            <a:r>
              <a:rPr sz="2400" b="0" i="0">
                <a:solidFill>
                  <a:srgbClr val="E5E7EB"/>
                </a:solidFill>
                <a:latin typeface="Inter"/>
              </a:rPr>
              <a:t>Misol: 2024-yilda yirik bank tizimiga 3.6 Tb/sekund quvvatdagi DDoS hujumi amalga oshirildi.</a:t>
            </a:r>
            <a:endParaRPr sz="2400" b="0" i="0">
              <a:solidFill>
                <a:srgbClr val="E5E7EB"/>
              </a:solidFill>
              <a:latin typeface="Inter"/>
            </a:endParaRPr>
          </a:p>
        </p:txBody>
      </p:sp>
      <p:sp>
        <p:nvSpPr>
          <p:cNvPr id="6" name="TextBox 5"/>
          <p:cNvSpPr txBox="1"/>
          <p:nvPr/>
        </p:nvSpPr>
        <p:spPr>
          <a:xfrm>
            <a:off x="8940800" y="5791200"/>
            <a:ext cx="6515100" cy="977900"/>
          </a:xfrm>
          <a:prstGeom prst="rect">
            <a:avLst/>
          </a:prstGeom>
          <a:noFill/>
        </p:spPr>
        <p:txBody>
          <a:bodyPr wrap="square" lIns="0" tIns="0" rIns="0" bIns="0">
            <a:spAutoFit/>
          </a:bodyPr>
          <a:lstStyle/>
          <a:p>
            <a:pPr>
              <a:lnSpc>
                <a:spcPct val="130000"/>
              </a:lnSpc>
              <a:defRPr sz="2400" b="0" i="0">
                <a:solidFill>
                  <a:srgbClr val="E5E7EB"/>
                </a:solidFill>
                <a:latin typeface="Inter"/>
              </a:defRPr>
            </a:pPr>
            <a:r>
              <a:rPr sz="2400" b="0" i="0">
                <a:solidFill>
                  <a:srgbClr val="E5E7EB"/>
                </a:solidFill>
                <a:latin typeface="Inter"/>
              </a:rPr>
              <a:t>IP spoofing bilan haqiqiy manzillarni yashirib hujum uyushtirish mumkin.</a:t>
            </a:r>
            <a:endParaRPr sz="2400" b="0" i="0">
              <a:solidFill>
                <a:srgbClr val="E5E7EB"/>
              </a:solidFill>
              <a:latin typeface="Inter"/>
            </a:endParaRPr>
          </a:p>
        </p:txBody>
      </p:sp>
      <p:sp>
        <p:nvSpPr>
          <p:cNvPr id="7" name="TextBox 6"/>
          <p:cNvSpPr txBox="1"/>
          <p:nvPr/>
        </p:nvSpPr>
        <p:spPr>
          <a:xfrm>
            <a:off x="825500" y="825500"/>
            <a:ext cx="6819900" cy="2197100"/>
          </a:xfrm>
          <a:prstGeom prst="rect">
            <a:avLst/>
          </a:prstGeom>
          <a:noFill/>
        </p:spPr>
        <p:txBody>
          <a:bodyPr wrap="square" lIns="0" tIns="0" rIns="0" bIns="0">
            <a:spAutoFit/>
          </a:bodyPr>
          <a:lstStyle/>
          <a:p>
            <a:pPr algn="l">
              <a:lnSpc>
                <a:spcPct val="90000"/>
              </a:lnSpc>
              <a:defRPr sz="4800" b="1" i="0">
                <a:solidFill>
                  <a:srgbClr val="1A1A1A"/>
                </a:solidFill>
                <a:latin typeface="Playfair Display"/>
              </a:defRPr>
            </a:pPr>
            <a:r>
              <a:rPr sz="4800" b="1" i="0">
                <a:solidFill>
                  <a:srgbClr val="1A1A1A"/>
                </a:solidFill>
                <a:latin typeface="Playfair Display"/>
              </a:rPr>
              <a:t>IP manzillar orqali amalga oshiriladigan kiberhujumlar</a:t>
            </a:r>
            <a:endParaRPr sz="4800" b="1" i="0">
              <a:solidFill>
                <a:srgbClr val="1A1A1A"/>
              </a:solidFill>
              <a:latin typeface="Playfair Display"/>
            </a:endParaRPr>
          </a:p>
        </p:txBody>
      </p:sp>
      <p:sp>
        <p:nvSpPr>
          <p:cNvPr id="8" name="Rounded Rectangle 7"/>
          <p:cNvSpPr/>
          <p:nvPr/>
        </p:nvSpPr>
        <p:spPr>
          <a:xfrm>
            <a:off x="825500" y="3530600"/>
            <a:ext cx="6794500" cy="4572000"/>
          </a:xfrm>
          <a:prstGeom prst="roundRect">
            <a:avLst>
              <a:gd name="adj" fmla="val 27777"/>
            </a:avLst>
          </a:prstGeom>
          <a:solidFill>
            <a:srgbClr val="E5E7EB"/>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9" name="Rounded Rectangle 8"/>
          <p:cNvSpPr/>
          <p:nvPr/>
        </p:nvSpPr>
        <p:spPr>
          <a:xfrm>
            <a:off x="825500" y="3530600"/>
            <a:ext cx="6794500" cy="4572000"/>
          </a:xfrm>
          <a:prstGeom prst="roundRect">
            <a:avLst>
              <a:gd name="adj" fmla="val 27777"/>
            </a:avLst>
          </a:prstGeom>
          <a:solidFill>
            <a:srgbClr val="E5E7EB"/>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pic>
        <p:nvPicPr>
          <p:cNvPr id="10" name="Picture 9" descr="fa1d1f4e-7ac4-4cb2-bc1b-aaab674b9e25.png"/>
          <p:cNvPicPr>
            <a:picLocks noChangeAspect="1"/>
          </p:cNvPicPr>
          <p:nvPr/>
        </p:nvPicPr>
        <p:blipFill>
          <a:blip r:embed="rId1"/>
          <a:stretch>
            <a:fillRect/>
          </a:stretch>
        </p:blipFill>
        <p:spPr>
          <a:xfrm>
            <a:off x="825500" y="3530600"/>
            <a:ext cx="6794500" cy="457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E9"/>
        </a:solidFill>
        <a:effectLst/>
      </p:bgPr>
    </p:bg>
    <p:spTree>
      <p:nvGrpSpPr>
        <p:cNvPr id="1" name=""/>
        <p:cNvGrpSpPr/>
        <p:nvPr/>
      </p:nvGrpSpPr>
      <p:grpSpPr/>
      <p:sp>
        <p:nvSpPr>
          <p:cNvPr id="2" name="TextBox 1"/>
          <p:cNvSpPr txBox="1"/>
          <p:nvPr/>
        </p:nvSpPr>
        <p:spPr>
          <a:xfrm>
            <a:off x="825500" y="1028700"/>
            <a:ext cx="6515100" cy="2286000"/>
          </a:xfrm>
          <a:prstGeom prst="rect">
            <a:avLst/>
          </a:prstGeom>
          <a:noFill/>
        </p:spPr>
        <p:txBody>
          <a:bodyPr wrap="square" lIns="0" tIns="0" rIns="0" bIns="0">
            <a:spAutoFit/>
          </a:bodyPr>
          <a:lstStyle/>
          <a:p>
            <a:pPr algn="l">
              <a:lnSpc>
                <a:spcPct val="95000"/>
              </a:lnSpc>
              <a:defRPr sz="4800" b="1" i="0">
                <a:solidFill>
                  <a:srgbClr val="000000"/>
                </a:solidFill>
                <a:latin typeface="Playfair Display"/>
              </a:defRPr>
            </a:pPr>
            <a:r>
              <a:rPr sz="4800" b="1" i="0">
                <a:solidFill>
                  <a:srgbClr val="000000"/>
                </a:solidFill>
                <a:latin typeface="Playfair Display"/>
              </a:rPr>
              <a:t>IP manzillarni monitoring qilish tizimlari</a:t>
            </a:r>
            <a:endParaRPr sz="4800" b="1" i="0">
              <a:solidFill>
                <a:srgbClr val="000000"/>
              </a:solidFill>
              <a:latin typeface="Playfair Display"/>
            </a:endParaRPr>
          </a:p>
        </p:txBody>
      </p:sp>
      <p:sp>
        <p:nvSpPr>
          <p:cNvPr id="3" name="Rounded Rectangle 2"/>
          <p:cNvSpPr/>
          <p:nvPr/>
        </p:nvSpPr>
        <p:spPr>
          <a:xfrm>
            <a:off x="0" y="3090545"/>
            <a:ext cx="8127365" cy="5141595"/>
          </a:xfrm>
          <a:prstGeom prst="roundRect">
            <a:avLst>
              <a:gd name="adj" fmla="val 20746"/>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TextBox 3"/>
          <p:cNvSpPr txBox="1"/>
          <p:nvPr/>
        </p:nvSpPr>
        <p:spPr>
          <a:xfrm>
            <a:off x="1016000" y="3314700"/>
            <a:ext cx="6108700" cy="3968750"/>
          </a:xfrm>
          <a:prstGeom prst="rect">
            <a:avLst/>
          </a:prstGeom>
          <a:noFill/>
        </p:spPr>
        <p:txBody>
          <a:bodyPr wrap="square" lIns="0" tIns="0" rIns="0" bIns="0">
            <a:noAutofit/>
          </a:bodyPr>
          <a:lstStyle/>
          <a:p>
            <a:pPr>
              <a:lnSpc>
                <a:spcPct val="133000"/>
              </a:lnSpc>
              <a:defRPr sz="2200" b="0" i="0">
                <a:solidFill>
                  <a:srgbClr val="FFFFFF"/>
                </a:solidFill>
                <a:latin typeface="Inter"/>
              </a:defRPr>
            </a:pPr>
            <a:r>
              <a:rPr sz="2200" b="0" i="0">
                <a:solidFill>
                  <a:srgbClr val="FFFFFF"/>
                </a:solidFill>
                <a:latin typeface="Inter"/>
              </a:rPr>
              <a:t>Real vaqt monitoringi uchun SNMP protokoli orqali qurilmalardan 85% trafik ma’lumotlari 1 soniya ichida olinadi</a:t>
            </a:r>
            <a:endParaRPr sz="2200" b="0" i="0">
              <a:solidFill>
                <a:srgbClr val="FFFFFF"/>
              </a:solidFill>
              <a:latin typeface="Inter"/>
            </a:endParaRPr>
          </a:p>
        </p:txBody>
      </p:sp>
      <p:sp>
        <p:nvSpPr>
          <p:cNvPr id="5" name="TextBox 4"/>
          <p:cNvSpPr txBox="1"/>
          <p:nvPr/>
        </p:nvSpPr>
        <p:spPr>
          <a:xfrm>
            <a:off x="1016000" y="4622800"/>
            <a:ext cx="6108700" cy="1358900"/>
          </a:xfrm>
          <a:prstGeom prst="rect">
            <a:avLst/>
          </a:prstGeom>
          <a:noFill/>
        </p:spPr>
        <p:txBody>
          <a:bodyPr wrap="square" lIns="0" tIns="0" rIns="0" bIns="0">
            <a:spAutoFit/>
          </a:bodyPr>
          <a:lstStyle/>
          <a:p>
            <a:pPr>
              <a:lnSpc>
                <a:spcPct val="133000"/>
              </a:lnSpc>
              <a:defRPr sz="2200" b="0" i="0">
                <a:solidFill>
                  <a:srgbClr val="FFFFFF"/>
                </a:solidFill>
                <a:latin typeface="Inter"/>
              </a:defRPr>
            </a:pPr>
            <a:r>
              <a:rPr sz="2200" b="0" i="0">
                <a:solidFill>
                  <a:srgbClr val="FFFFFF"/>
                </a:solidFill>
                <a:latin typeface="Inter"/>
              </a:rPr>
              <a:t>NetFlow protokoli yordamida 70% tarmoq trafigi manbalari va maqsadlari identifikatsiya qilinadi</a:t>
            </a:r>
            <a:endParaRPr sz="2200" b="0" i="0">
              <a:solidFill>
                <a:srgbClr val="FFFFFF"/>
              </a:solidFill>
              <a:latin typeface="Inter"/>
            </a:endParaRPr>
          </a:p>
        </p:txBody>
      </p:sp>
      <p:sp>
        <p:nvSpPr>
          <p:cNvPr id="6" name="TextBox 5"/>
          <p:cNvSpPr txBox="1"/>
          <p:nvPr/>
        </p:nvSpPr>
        <p:spPr>
          <a:xfrm>
            <a:off x="1016000" y="5985510"/>
            <a:ext cx="6108700" cy="1355725"/>
          </a:xfrm>
          <a:prstGeom prst="rect">
            <a:avLst/>
          </a:prstGeom>
          <a:noFill/>
        </p:spPr>
        <p:txBody>
          <a:bodyPr wrap="square" lIns="0" tIns="0" rIns="0" bIns="0">
            <a:noAutofit/>
          </a:bodyPr>
          <a:lstStyle/>
          <a:p>
            <a:pPr>
              <a:lnSpc>
                <a:spcPct val="133000"/>
              </a:lnSpc>
              <a:defRPr sz="2200" b="0" i="0">
                <a:solidFill>
                  <a:srgbClr val="FFFFFF"/>
                </a:solidFill>
                <a:latin typeface="Inter"/>
              </a:defRPr>
            </a:pPr>
            <a:r>
              <a:rPr sz="2200" b="0" i="0">
                <a:solidFill>
                  <a:srgbClr val="FFFFFF"/>
                </a:solidFill>
                <a:latin typeface="Inter"/>
              </a:rPr>
              <a:t>Markazlashtirilgan log tahlili SIEM tizimlari tomonidan 99% holatlarda avtomatik</a:t>
            </a:r>
            <a:endParaRPr sz="2200" b="0" i="0">
              <a:solidFill>
                <a:srgbClr val="FFFFFF"/>
              </a:solidFill>
              <a:latin typeface="Inter"/>
            </a:endParaRPr>
          </a:p>
        </p:txBody>
      </p:sp>
      <p:sp>
        <p:nvSpPr>
          <p:cNvPr id="7" name="TextBox 6"/>
          <p:cNvSpPr txBox="1"/>
          <p:nvPr/>
        </p:nvSpPr>
        <p:spPr>
          <a:xfrm>
            <a:off x="8737600" y="2794000"/>
            <a:ext cx="6515100" cy="914400"/>
          </a:xfrm>
          <a:prstGeom prst="rect">
            <a:avLst/>
          </a:prstGeom>
          <a:noFill/>
        </p:spPr>
        <p:txBody>
          <a:bodyPr wrap="square" lIns="0" tIns="0" rIns="0" bIns="0">
            <a:spAutoFit/>
          </a:bodyPr>
          <a:lstStyle/>
          <a:p>
            <a:pPr>
              <a:lnSpc>
                <a:spcPct val="133000"/>
              </a:lnSpc>
              <a:defRPr sz="2200" b="0" i="0">
                <a:solidFill>
                  <a:srgbClr val="000000"/>
                </a:solidFill>
                <a:latin typeface="Inter"/>
              </a:defRPr>
            </a:pPr>
            <a:r>
              <a:rPr sz="2200" b="0" i="0">
                <a:solidFill>
                  <a:srgbClr val="000000"/>
                </a:solidFill>
                <a:latin typeface="Inter"/>
              </a:rPr>
              <a:t>SIEM tizimlari real vaqtda TCP/IP trafigini tahlil qilib, IP manzillarning reputatsiyasini baholaydi</a:t>
            </a:r>
            <a:endParaRPr sz="2200" b="0" i="0">
              <a:solidFill>
                <a:srgbClr val="000000"/>
              </a:solidFill>
              <a:latin typeface="Inter"/>
            </a:endParaRPr>
          </a:p>
        </p:txBody>
      </p:sp>
      <p:sp>
        <p:nvSpPr>
          <p:cNvPr id="8" name="TextBox 7"/>
          <p:cNvSpPr txBox="1"/>
          <p:nvPr/>
        </p:nvSpPr>
        <p:spPr>
          <a:xfrm>
            <a:off x="8623935" y="4178300"/>
            <a:ext cx="6515100" cy="1358900"/>
          </a:xfrm>
          <a:prstGeom prst="rect">
            <a:avLst/>
          </a:prstGeom>
          <a:noFill/>
        </p:spPr>
        <p:txBody>
          <a:bodyPr wrap="square" lIns="0" tIns="0" rIns="0" bIns="0">
            <a:spAutoFit/>
          </a:bodyPr>
          <a:lstStyle/>
          <a:p>
            <a:pPr>
              <a:lnSpc>
                <a:spcPct val="133000"/>
              </a:lnSpc>
              <a:defRPr sz="2200" b="0" i="0">
                <a:solidFill>
                  <a:srgbClr val="000000"/>
                </a:solidFill>
                <a:latin typeface="Inter"/>
              </a:defRPr>
            </a:pPr>
            <a:r>
              <a:rPr sz="2200" b="0" i="0">
                <a:solidFill>
                  <a:srgbClr val="000000"/>
                </a:solidFill>
                <a:latin typeface="Inter"/>
              </a:rPr>
              <a:t>IP reputatsiya tizimlari dasturiy ta'minot va hatto bulut asosida 1 mln+ IP manzillarni monitoring qiladi</a:t>
            </a:r>
            <a:endParaRPr sz="2200" b="0" i="0">
              <a:solidFill>
                <a:srgbClr val="000000"/>
              </a:solidFill>
              <a:latin typeface="Inter"/>
            </a:endParaRPr>
          </a:p>
        </p:txBody>
      </p:sp>
      <p:sp>
        <p:nvSpPr>
          <p:cNvPr id="9" name="TextBox 8"/>
          <p:cNvSpPr txBox="1"/>
          <p:nvPr/>
        </p:nvSpPr>
        <p:spPr>
          <a:xfrm>
            <a:off x="8737600" y="5445125"/>
            <a:ext cx="6515100" cy="914400"/>
          </a:xfrm>
          <a:prstGeom prst="rect">
            <a:avLst/>
          </a:prstGeom>
          <a:noFill/>
        </p:spPr>
        <p:txBody>
          <a:bodyPr wrap="square" lIns="0" tIns="0" rIns="0" bIns="0">
            <a:spAutoFit/>
          </a:bodyPr>
          <a:lstStyle/>
          <a:p>
            <a:pPr>
              <a:lnSpc>
                <a:spcPct val="133000"/>
              </a:lnSpc>
              <a:defRPr sz="2200" b="0" i="0">
                <a:solidFill>
                  <a:srgbClr val="000000"/>
                </a:solidFill>
                <a:latin typeface="Inter"/>
              </a:defRPr>
            </a:pPr>
            <a:r>
              <a:rPr sz="2200" b="0" i="0">
                <a:solidFill>
                  <a:srgbClr val="000000"/>
                </a:solidFill>
                <a:latin typeface="Inter"/>
              </a:rPr>
              <a:t>Mashinali o‘qitishga asoslangan usullar 30 dan ortiq turdagi tarmoq tahdidlarini</a:t>
            </a:r>
            <a:endParaRPr sz="2200" b="0" i="0">
              <a:solidFill>
                <a:srgbClr val="000000"/>
              </a:solidFill>
              <a:latin typeface="Inter"/>
            </a:endParaRPr>
          </a:p>
        </p:txBody>
      </p:sp>
      <p:sp>
        <p:nvSpPr>
          <p:cNvPr id="10" name="Rounded Rectangle 9"/>
          <p:cNvSpPr/>
          <p:nvPr/>
        </p:nvSpPr>
        <p:spPr>
          <a:xfrm>
            <a:off x="1270" y="8232140"/>
            <a:ext cx="16242030" cy="911860"/>
          </a:xfrm>
          <a:prstGeom prst="roundRect">
            <a:avLst>
              <a:gd name="adj" fmla="val 8510"/>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p:sp>
        <p:nvSpPr>
          <p:cNvPr id="3" name="Rounded Rectangle 2"/>
          <p:cNvSpPr/>
          <p:nvPr/>
        </p:nvSpPr>
        <p:spPr>
          <a:xfrm>
            <a:off x="825500" y="2451100"/>
            <a:ext cx="6985000" cy="6045200"/>
          </a:xfrm>
          <a:prstGeom prst="roundRect">
            <a:avLst>
              <a:gd name="adj" fmla="val 25210"/>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TextBox 3"/>
          <p:cNvSpPr txBox="1"/>
          <p:nvPr/>
        </p:nvSpPr>
        <p:spPr>
          <a:xfrm>
            <a:off x="1333500" y="3416300"/>
            <a:ext cx="5994400" cy="1371600"/>
          </a:xfrm>
          <a:prstGeom prst="rect">
            <a:avLst/>
          </a:prstGeom>
          <a:noFill/>
        </p:spPr>
        <p:txBody>
          <a:bodyPr wrap="square" lIns="0" tIns="0" rIns="0" bIns="0">
            <a:spAutoFit/>
          </a:bodyPr>
          <a:lstStyle/>
          <a:p>
            <a:pPr>
              <a:lnSpc>
                <a:spcPct val="120000"/>
              </a:lnSpc>
              <a:defRPr sz="2400" b="0" i="0">
                <a:solidFill>
                  <a:srgbClr val="FFFFFF"/>
                </a:solidFill>
                <a:latin typeface="Inter"/>
              </a:defRPr>
            </a:pPr>
            <a:r>
              <a:rPr sz="2400" b="0" i="0">
                <a:solidFill>
                  <a:srgbClr val="FFFFFF"/>
                </a:solidFill>
                <a:latin typeface="Inter"/>
              </a:rPr>
              <a:t>IDS tizimi tarmoqdagi tahdidlarni aniqlab, xabar beradi; IPS esa xavfli trafikni avtomatik bloklaydi.</a:t>
            </a:r>
            <a:endParaRPr sz="2400" b="0" i="0">
              <a:solidFill>
                <a:srgbClr val="FFFFFF"/>
              </a:solidFill>
              <a:latin typeface="Inter"/>
            </a:endParaRPr>
          </a:p>
        </p:txBody>
      </p:sp>
      <p:sp>
        <p:nvSpPr>
          <p:cNvPr id="5" name="TextBox 4"/>
          <p:cNvSpPr txBox="1"/>
          <p:nvPr/>
        </p:nvSpPr>
        <p:spPr>
          <a:xfrm>
            <a:off x="1333500" y="4787900"/>
            <a:ext cx="5994400" cy="1371600"/>
          </a:xfrm>
          <a:prstGeom prst="rect">
            <a:avLst/>
          </a:prstGeom>
          <a:noFill/>
        </p:spPr>
        <p:txBody>
          <a:bodyPr wrap="square" lIns="0" tIns="0" rIns="0" bIns="0">
            <a:spAutoFit/>
          </a:bodyPr>
          <a:lstStyle/>
          <a:p>
            <a:pPr>
              <a:lnSpc>
                <a:spcPct val="120000"/>
              </a:lnSpc>
              <a:defRPr sz="2400" b="0" i="0">
                <a:solidFill>
                  <a:srgbClr val="FFFFFF"/>
                </a:solidFill>
                <a:latin typeface="Inter"/>
              </a:defRPr>
            </a:pPr>
            <a:r>
              <a:rPr sz="2400" b="0" i="0">
                <a:solidFill>
                  <a:srgbClr val="FFFFFF"/>
                </a:solidFill>
                <a:latin typeface="Inter"/>
              </a:rPr>
              <a:t>Signature-based yondashuvda aniq ma'lum hujum namunalariga moslik tekshiriladi.</a:t>
            </a:r>
            <a:endParaRPr sz="2400" b="0" i="0">
              <a:solidFill>
                <a:srgbClr val="FFFFFF"/>
              </a:solidFill>
              <a:latin typeface="Inter"/>
            </a:endParaRPr>
          </a:p>
        </p:txBody>
      </p:sp>
      <p:sp>
        <p:nvSpPr>
          <p:cNvPr id="6" name="TextBox 5"/>
          <p:cNvSpPr txBox="1"/>
          <p:nvPr/>
        </p:nvSpPr>
        <p:spPr>
          <a:xfrm>
            <a:off x="1333500" y="6159500"/>
            <a:ext cx="5994400" cy="1371600"/>
          </a:xfrm>
          <a:prstGeom prst="rect">
            <a:avLst/>
          </a:prstGeom>
          <a:noFill/>
        </p:spPr>
        <p:txBody>
          <a:bodyPr wrap="square" lIns="0" tIns="0" rIns="0" bIns="0">
            <a:spAutoFit/>
          </a:bodyPr>
          <a:lstStyle/>
          <a:p>
            <a:pPr>
              <a:lnSpc>
                <a:spcPct val="120000"/>
              </a:lnSpc>
              <a:defRPr sz="2400" b="0" i="0">
                <a:solidFill>
                  <a:srgbClr val="FFFFFF"/>
                </a:solidFill>
                <a:latin typeface="Inter"/>
              </a:defRPr>
            </a:pPr>
            <a:r>
              <a:rPr sz="2400" b="0" i="0">
                <a:solidFill>
                  <a:srgbClr val="FFFFFF"/>
                </a:solidFill>
                <a:latin typeface="Inter"/>
              </a:rPr>
              <a:t>Anomaly-based texnologiya normal trafikdan farq qiluvchi nojo'ya faoliyatni aniqlashga yo'naltirilgan.</a:t>
            </a:r>
            <a:endParaRPr sz="2400" b="0" i="0">
              <a:solidFill>
                <a:srgbClr val="FFFFFF"/>
              </a:solidFill>
              <a:latin typeface="Inter"/>
            </a:endParaRPr>
          </a:p>
        </p:txBody>
      </p:sp>
      <p:sp>
        <p:nvSpPr>
          <p:cNvPr id="7" name="TextBox 6"/>
          <p:cNvSpPr txBox="1"/>
          <p:nvPr/>
        </p:nvSpPr>
        <p:spPr>
          <a:xfrm>
            <a:off x="1333500" y="7531100"/>
            <a:ext cx="5994400" cy="457200"/>
          </a:xfrm>
          <a:prstGeom prst="rect">
            <a:avLst/>
          </a:prstGeom>
          <a:noFill/>
        </p:spPr>
        <p:txBody>
          <a:bodyPr wrap="square" lIns="0" tIns="0" rIns="0" bIns="0">
            <a:spAutoFit/>
          </a:bodyPr>
          <a:lstStyle/>
          <a:p>
            <a:pPr algn="l">
              <a:defRPr sz="2400" b="0" i="0">
                <a:solidFill>
                  <a:srgbClr val="FFFFFF"/>
                </a:solidFill>
                <a:latin typeface="Inter"/>
              </a:defRPr>
            </a:pPr>
            <a:r>
              <a:rPr sz="2400" b="0" i="0">
                <a:solidFill>
                  <a:srgbClr val="FFFFFF"/>
                </a:solidFill>
                <a:latin typeface="Inter"/>
              </a:rPr>
              <a:t>.</a:t>
            </a:r>
            <a:endParaRPr sz="2400" b="0" i="0">
              <a:solidFill>
                <a:srgbClr val="FFFFFF"/>
              </a:solidFill>
              <a:latin typeface="Inter"/>
            </a:endParaRPr>
          </a:p>
        </p:txBody>
      </p:sp>
      <p:sp>
        <p:nvSpPr>
          <p:cNvPr id="11" name="TextBox 10"/>
          <p:cNvSpPr txBox="1"/>
          <p:nvPr/>
        </p:nvSpPr>
        <p:spPr>
          <a:xfrm>
            <a:off x="825500" y="647700"/>
            <a:ext cx="10820400" cy="1397000"/>
          </a:xfrm>
          <a:prstGeom prst="rect">
            <a:avLst/>
          </a:prstGeom>
          <a:noFill/>
        </p:spPr>
        <p:txBody>
          <a:bodyPr wrap="square" lIns="0" tIns="0" rIns="0" bIns="0">
            <a:spAutoFit/>
          </a:bodyPr>
          <a:lstStyle/>
          <a:p>
            <a:pPr algn="l">
              <a:defRPr sz="5000" b="0" i="0">
                <a:solidFill>
                  <a:srgbClr val="000000"/>
                </a:solidFill>
                <a:latin typeface="serif"/>
              </a:defRPr>
            </a:pPr>
            <a:r>
              <a:rPr sz="5000" b="0" i="0">
                <a:solidFill>
                  <a:srgbClr val="000000"/>
                </a:solidFill>
                <a:latin typeface="serif"/>
              </a:rPr>
              <a:t>IDS/IPS tizimlarida IP manzillarni filtrlash</a:t>
            </a:r>
            <a:endParaRPr sz="5000" b="0" i="0">
              <a:solidFill>
                <a:srgbClr val="000000"/>
              </a:solidFill>
              <a:latin typeface="serif"/>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p:sp>
        <p:nvSpPr>
          <p:cNvPr id="6" name="TextBox 5"/>
          <p:cNvSpPr txBox="1"/>
          <p:nvPr/>
        </p:nvSpPr>
        <p:spPr>
          <a:xfrm>
            <a:off x="698500" y="4926965"/>
            <a:ext cx="7429500" cy="1346200"/>
          </a:xfrm>
          <a:prstGeom prst="rect">
            <a:avLst/>
          </a:prstGeom>
          <a:noFill/>
        </p:spPr>
        <p:txBody>
          <a:bodyPr wrap="square" lIns="0" tIns="0" rIns="0" bIns="0">
            <a:spAutoFit/>
          </a:bodyPr>
          <a:lstStyle/>
          <a:p>
            <a:pPr>
              <a:lnSpc>
                <a:spcPct val="130000"/>
              </a:lnSpc>
              <a:defRPr sz="2200" b="0" i="0">
                <a:solidFill>
                  <a:srgbClr val="FFFFFF"/>
                </a:solidFill>
                <a:latin typeface="Inter"/>
              </a:defRPr>
            </a:pPr>
            <a:r>
              <a:rPr sz="2200" b="0" i="0">
                <a:solidFill>
                  <a:srgbClr val="FFFFFF"/>
                </a:solidFill>
                <a:latin typeface="Inter"/>
              </a:rPr>
              <a:t>Fail2Ban tizimi avtomatik ravishda zararli trafikni aniqlab, IP manzillarni bloklaydi, bu tizim serverlarni hujumlardan himoya qiladi</a:t>
            </a:r>
            <a:endParaRPr sz="2200" b="0" i="0">
              <a:solidFill>
                <a:srgbClr val="FFFFFF"/>
              </a:solidFill>
              <a:latin typeface="Inter"/>
            </a:endParaRPr>
          </a:p>
        </p:txBody>
      </p:sp>
      <p:sp>
        <p:nvSpPr>
          <p:cNvPr id="7" name="TextBox 6"/>
          <p:cNvSpPr txBox="1"/>
          <p:nvPr/>
        </p:nvSpPr>
        <p:spPr>
          <a:xfrm>
            <a:off x="698500" y="6273165"/>
            <a:ext cx="7429500" cy="889000"/>
          </a:xfrm>
          <a:prstGeom prst="rect">
            <a:avLst/>
          </a:prstGeom>
          <a:noFill/>
        </p:spPr>
        <p:txBody>
          <a:bodyPr wrap="square" lIns="0" tIns="0" rIns="0" bIns="0">
            <a:spAutoFit/>
          </a:bodyPr>
          <a:lstStyle/>
          <a:p>
            <a:pPr>
              <a:defRPr sz="2200" b="0" i="0">
                <a:solidFill>
                  <a:srgbClr val="FFFFFF"/>
                </a:solidFill>
                <a:latin typeface="Inter"/>
              </a:defRPr>
            </a:pPr>
            <a:r>
              <a:rPr sz="2200" b="0" i="0">
                <a:solidFill>
                  <a:srgbClr val="FFFFFF"/>
                </a:solidFill>
                <a:latin typeface="Inter"/>
              </a:rPr>
              <a:t>Proxy va reverse proxy serverlari tarmoq so'rovlarini nazorat qilib, zo'ravonlik va zararli trafikni filtrlaydi</a:t>
            </a:r>
            <a:endParaRPr sz="2200" b="0" i="0">
              <a:solidFill>
                <a:srgbClr val="FFFFFF"/>
              </a:solidFill>
              <a:latin typeface="Inter"/>
            </a:endParaRPr>
          </a:p>
        </p:txBody>
      </p:sp>
      <p:sp>
        <p:nvSpPr>
          <p:cNvPr id="8" name="TextBox 7"/>
          <p:cNvSpPr txBox="1"/>
          <p:nvPr/>
        </p:nvSpPr>
        <p:spPr>
          <a:xfrm>
            <a:off x="698500" y="7342505"/>
            <a:ext cx="7429500" cy="444500"/>
          </a:xfrm>
          <a:prstGeom prst="rect">
            <a:avLst/>
          </a:prstGeom>
          <a:noFill/>
        </p:spPr>
        <p:txBody>
          <a:bodyPr wrap="square" lIns="0" tIns="0" rIns="0" bIns="0">
            <a:spAutoFit/>
          </a:bodyPr>
          <a:lstStyle/>
          <a:p>
            <a:pPr>
              <a:defRPr sz="2200" b="0" i="0">
                <a:solidFill>
                  <a:srgbClr val="FFFFFF"/>
                </a:solidFill>
                <a:latin typeface="Inter"/>
              </a:defRPr>
            </a:pPr>
            <a:r>
              <a:rPr sz="2200" b="0" i="0">
                <a:solidFill>
                  <a:srgbClr val="FFFFFF"/>
                </a:solidFill>
                <a:latin typeface="Inter"/>
              </a:rPr>
              <a:t>Zero Trust modeli doimiy ravishda</a:t>
            </a:r>
            <a:endParaRPr sz="2200" b="0" i="0">
              <a:solidFill>
                <a:srgbClr val="FFFFFF"/>
              </a:solidFill>
              <a:latin typeface="Inter"/>
            </a:endParaRPr>
          </a:p>
        </p:txBody>
      </p:sp>
      <p:sp>
        <p:nvSpPr>
          <p:cNvPr id="2" name="Текстовое поле 1"/>
          <p:cNvSpPr txBox="1"/>
          <p:nvPr/>
        </p:nvSpPr>
        <p:spPr>
          <a:xfrm>
            <a:off x="694690" y="2062480"/>
            <a:ext cx="15363190" cy="2367280"/>
          </a:xfrm>
          <a:prstGeom prst="rect">
            <a:avLst/>
          </a:prstGeom>
        </p:spPr>
        <p:txBody>
          <a:bodyPr>
            <a:noAutofit/>
          </a:bodyPr>
          <a:p>
            <a:pPr indent="457200" algn="l"/>
            <a:r>
              <a:rPr sz="2800"/>
              <a:t>Tarmoq himoyasi — bu kompyuter tarmog‘ini ruxsatsiz kirish, zararli dasturlar, kiberhujumlar va ma’lumotlar o‘g‘irlanishidan himoya qilish jarayonidir. Tarmoq himoyasi firewall, antivirus, IDS/IPS, shifrlash va IP manzillarni nazorat qilish kabi vositalar yordamida amalga oshiriladi. Uning asosiy maqsadi ma’lumotlarning maxfiyligi, yaxlitligi va mavjudligini ta’minlashdan iborat. Tarmoq himoyasi tashkilotning axborot resurslarini xavfsiz saqlashda muhim ahamiyatga ega.</a:t>
            </a:r>
            <a:endParaRPr sz="2800"/>
          </a:p>
        </p:txBody>
      </p:sp>
      <p:sp>
        <p:nvSpPr>
          <p:cNvPr id="9" name="Текстовое поле 8"/>
          <p:cNvSpPr txBox="1"/>
          <p:nvPr/>
        </p:nvSpPr>
        <p:spPr>
          <a:xfrm>
            <a:off x="1154430" y="865505"/>
            <a:ext cx="14444980" cy="1170305"/>
          </a:xfrm>
          <a:prstGeom prst="rect">
            <a:avLst/>
          </a:prstGeom>
          <a:noFill/>
        </p:spPr>
        <p:txBody>
          <a:bodyPr wrap="square" rtlCol="0">
            <a:noAutofit/>
          </a:bodyPr>
          <a:p>
            <a:pPr algn="ctr"/>
            <a:r>
              <a:rPr lang="en-US" altLang="ru-RU" sz="4400"/>
              <a:t>Tarmoq himoyasi</a:t>
            </a:r>
            <a:endParaRPr lang="en-US" altLang="ru-RU" sz="4400"/>
          </a:p>
        </p:txBody>
      </p:sp>
      <p:pic>
        <p:nvPicPr>
          <p:cNvPr id="3" name="Изображение 2"/>
          <p:cNvPicPr/>
          <p:nvPr/>
        </p:nvPicPr>
        <p:blipFill>
          <a:blip r:embed="rId1"/>
          <a:stretch>
            <a:fillRect/>
          </a:stretch>
        </p:blipFill>
        <p:spPr>
          <a:xfrm>
            <a:off x="1068070" y="4716780"/>
            <a:ext cx="14585950" cy="40252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12700" y="12700"/>
            <a:ext cx="8115300" cy="9118600"/>
          </a:xfrm>
          <a:prstGeom prst="roundRect">
            <a:avLst>
              <a:gd name="adj" fmla="val 12519"/>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3" name="TextBox 2"/>
          <p:cNvSpPr txBox="1"/>
          <p:nvPr/>
        </p:nvSpPr>
        <p:spPr>
          <a:xfrm>
            <a:off x="825500" y="2032000"/>
            <a:ext cx="6515100" cy="2108200"/>
          </a:xfrm>
          <a:prstGeom prst="rect">
            <a:avLst/>
          </a:prstGeom>
          <a:noFill/>
        </p:spPr>
        <p:txBody>
          <a:bodyPr wrap="square" lIns="0" tIns="0" rIns="0" bIns="0">
            <a:spAutoFit/>
          </a:bodyPr>
          <a:lstStyle/>
          <a:p>
            <a:pPr algn="l">
              <a:lnSpc>
                <a:spcPct val="90000"/>
              </a:lnSpc>
              <a:defRPr sz="4600" b="1" i="0">
                <a:solidFill>
                  <a:srgbClr val="FFFFFF"/>
                </a:solidFill>
                <a:latin typeface="Georgia" panose="02040502050405020303"/>
              </a:defRPr>
            </a:pPr>
            <a:r>
              <a:rPr sz="4600" b="1" i="0">
                <a:solidFill>
                  <a:srgbClr val="FFFFFF"/>
                </a:solidFill>
                <a:latin typeface="Georgia" panose="02040502050405020303"/>
              </a:rPr>
              <a:t>Tarmoq loglarini tahlil qilish va xavfsizlikni baholash</a:t>
            </a:r>
            <a:endParaRPr sz="4600" b="1" i="0">
              <a:solidFill>
                <a:srgbClr val="FFFFFF"/>
              </a:solidFill>
              <a:latin typeface="Georgia" panose="02040502050405020303"/>
            </a:endParaRPr>
          </a:p>
        </p:txBody>
      </p:sp>
      <p:sp>
        <p:nvSpPr>
          <p:cNvPr id="4" name="TextBox 3"/>
          <p:cNvSpPr txBox="1"/>
          <p:nvPr/>
        </p:nvSpPr>
        <p:spPr>
          <a:xfrm>
            <a:off x="825500" y="49149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Access loglar tarmoqdagi resurslarga kirish faoliyatini, foydalanuvchi harakatlarini batafsil qayd qiladi.</a:t>
            </a:r>
            <a:endParaRPr sz="1800" b="0" i="0">
              <a:solidFill>
                <a:srgbClr val="FFFFFF"/>
              </a:solidFill>
              <a:latin typeface="Inter"/>
            </a:endParaRPr>
          </a:p>
        </p:txBody>
      </p:sp>
      <p:sp>
        <p:nvSpPr>
          <p:cNvPr id="5" name="TextBox 4"/>
          <p:cNvSpPr txBox="1"/>
          <p:nvPr/>
        </p:nvSpPr>
        <p:spPr>
          <a:xfrm>
            <a:off x="825500" y="56388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Error loglar tizimdagi xatoliklar va muvaffaqiyatsiz urinishlarni real vaqt rejimida aniqlash imkonini beradi.</a:t>
            </a:r>
            <a:endParaRPr sz="1800" b="0" i="0">
              <a:solidFill>
                <a:srgbClr val="FFFFFF"/>
              </a:solidFill>
              <a:latin typeface="Inter"/>
            </a:endParaRPr>
          </a:p>
        </p:txBody>
      </p:sp>
      <p:sp>
        <p:nvSpPr>
          <p:cNvPr id="6" name="TextBox 5"/>
          <p:cNvSpPr txBox="1"/>
          <p:nvPr/>
        </p:nvSpPr>
        <p:spPr>
          <a:xfrm>
            <a:off x="825500" y="6375400"/>
            <a:ext cx="6515100" cy="736600"/>
          </a:xfrm>
          <a:prstGeom prst="rect">
            <a:avLst/>
          </a:prstGeom>
          <a:noFill/>
        </p:spPr>
        <p:txBody>
          <a:bodyPr wrap="square" lIns="0" tIns="0" rIns="0" bIns="0">
            <a:spAutoFit/>
          </a:bodyPr>
          <a:lstStyle/>
          <a:p>
            <a:pPr>
              <a:lnSpc>
                <a:spcPct val="130000"/>
              </a:lnSpc>
              <a:defRPr sz="1800" b="0" i="0">
                <a:solidFill>
                  <a:srgbClr val="FFFFFF"/>
                </a:solidFill>
                <a:latin typeface="Inter"/>
              </a:defRPr>
            </a:pPr>
            <a:r>
              <a:rPr sz="1800" b="0" i="0">
                <a:solidFill>
                  <a:srgbClr val="FFFFFF"/>
                </a:solidFill>
                <a:latin typeface="Inter"/>
              </a:rPr>
              <a:t>Security loglar xavfsizlik hodisalarini qayd qilib, noqonuniy kirishlar va tahdidlarni monitoring qiladi.</a:t>
            </a:r>
            <a:endParaRPr sz="1800" b="0" i="0">
              <a:solidFill>
                <a:srgbClr val="FFFFFF"/>
              </a:solidFill>
              <a:latin typeface="Inter"/>
            </a:endParaRPr>
          </a:p>
        </p:txBody>
      </p:sp>
      <p:sp>
        <p:nvSpPr>
          <p:cNvPr id="7" name="TextBox 6"/>
          <p:cNvSpPr txBox="1"/>
          <p:nvPr/>
        </p:nvSpPr>
        <p:spPr>
          <a:xfrm>
            <a:off x="8940800" y="2425700"/>
            <a:ext cx="6515100" cy="1778000"/>
          </a:xfrm>
          <a:prstGeom prst="rect">
            <a:avLst/>
          </a:prstGeom>
          <a:noFill/>
        </p:spPr>
        <p:txBody>
          <a:bodyPr wrap="square" lIns="0" tIns="0" rIns="0" bIns="0">
            <a:spAutoFit/>
          </a:bodyPr>
          <a:lstStyle/>
          <a:p>
            <a:pPr algn="l">
              <a:lnSpc>
                <a:spcPct val="100000"/>
              </a:lnSpc>
              <a:defRPr sz="3600" b="1" i="0">
                <a:solidFill>
                  <a:srgbClr val="000000"/>
                </a:solidFill>
                <a:latin typeface="Georgia" panose="02040502050405020303"/>
              </a:defRPr>
            </a:pPr>
            <a:r>
              <a:rPr sz="3600" b="1" i="0">
                <a:solidFill>
                  <a:srgbClr val="000000"/>
                </a:solidFill>
                <a:latin typeface="Georgia" panose="02040502050405020303"/>
              </a:rPr>
              <a:t>IP trafikining statistikasini tahlil qilish va xavfsizlik ko‘rsatkichlari</a:t>
            </a:r>
            <a:endParaRPr sz="3600" b="1" i="0">
              <a:solidFill>
                <a:srgbClr val="000000"/>
              </a:solidFill>
              <a:latin typeface="Georgia" panose="02040502050405020303"/>
            </a:endParaRPr>
          </a:p>
        </p:txBody>
      </p:sp>
      <p:sp>
        <p:nvSpPr>
          <p:cNvPr id="8" name="TextBox 7"/>
          <p:cNvSpPr txBox="1"/>
          <p:nvPr/>
        </p:nvSpPr>
        <p:spPr>
          <a:xfrm>
            <a:off x="8940800" y="4521200"/>
            <a:ext cx="6515100" cy="736600"/>
          </a:xfrm>
          <a:prstGeom prst="rect">
            <a:avLst/>
          </a:prstGeom>
          <a:noFill/>
        </p:spPr>
        <p:txBody>
          <a:bodyPr wrap="square" lIns="0" tIns="0" rIns="0" bIns="0">
            <a:spAutoFit/>
          </a:bodyPr>
          <a:lstStyle/>
          <a:p>
            <a:pPr>
              <a:lnSpc>
                <a:spcPct val="130000"/>
              </a:lnSpc>
              <a:defRPr sz="1800" b="0" i="0">
                <a:solidFill>
                  <a:srgbClr val="000000"/>
                </a:solidFill>
                <a:latin typeface="Inter"/>
              </a:defRPr>
            </a:pPr>
            <a:r>
              <a:rPr sz="1800" b="0" i="0">
                <a:solidFill>
                  <a:srgbClr val="000000"/>
                </a:solidFill>
                <a:latin typeface="Inter"/>
              </a:rPr>
              <a:t>IP trafikida so‘rovlar chastotasi soatlik va kunlik davrlarda tahlil qilinadi, masalan, soatiga 1500 ta so‘rov.</a:t>
            </a:r>
            <a:endParaRPr sz="1800" b="0" i="0">
              <a:solidFill>
                <a:srgbClr val="000000"/>
              </a:solidFill>
              <a:latin typeface="Inter"/>
            </a:endParaRPr>
          </a:p>
        </p:txBody>
      </p:sp>
      <p:sp>
        <p:nvSpPr>
          <p:cNvPr id="9" name="TextBox 8"/>
          <p:cNvSpPr txBox="1"/>
          <p:nvPr/>
        </p:nvSpPr>
        <p:spPr>
          <a:xfrm>
            <a:off x="8940800" y="5245100"/>
            <a:ext cx="6515100" cy="736600"/>
          </a:xfrm>
          <a:prstGeom prst="rect">
            <a:avLst/>
          </a:prstGeom>
          <a:noFill/>
        </p:spPr>
        <p:txBody>
          <a:bodyPr wrap="square" lIns="0" tIns="0" rIns="0" bIns="0">
            <a:spAutoFit/>
          </a:bodyPr>
          <a:lstStyle/>
          <a:p>
            <a:pPr>
              <a:lnSpc>
                <a:spcPct val="130000"/>
              </a:lnSpc>
              <a:defRPr sz="1800" b="0" i="0">
                <a:solidFill>
                  <a:srgbClr val="000000"/>
                </a:solidFill>
                <a:latin typeface="Inter"/>
              </a:defRPr>
            </a:pPr>
            <a:r>
              <a:rPr sz="1800" b="0" i="0">
                <a:solidFill>
                  <a:srgbClr val="000000"/>
                </a:solidFill>
                <a:latin typeface="Inter"/>
              </a:rPr>
              <a:t>Protokollar bo‘yicha HTTP 55%, HTTPS 30%, DNS 10%, boshqa protokollar 5% ulushga ega.</a:t>
            </a:r>
            <a:endParaRPr sz="1800" b="0" i="0">
              <a:solidFill>
                <a:srgbClr val="000000"/>
              </a:solidFill>
              <a:latin typeface="Inter"/>
            </a:endParaRPr>
          </a:p>
        </p:txBody>
      </p:sp>
      <p:sp>
        <p:nvSpPr>
          <p:cNvPr id="10" name="TextBox 9"/>
          <p:cNvSpPr txBox="1"/>
          <p:nvPr/>
        </p:nvSpPr>
        <p:spPr>
          <a:xfrm>
            <a:off x="8940800" y="5981700"/>
            <a:ext cx="6515100" cy="736600"/>
          </a:xfrm>
          <a:prstGeom prst="rect">
            <a:avLst/>
          </a:prstGeom>
          <a:noFill/>
        </p:spPr>
        <p:txBody>
          <a:bodyPr wrap="square" lIns="0" tIns="0" rIns="0" bIns="0">
            <a:spAutoFit/>
          </a:bodyPr>
          <a:lstStyle/>
          <a:p>
            <a:pPr>
              <a:lnSpc>
                <a:spcPct val="130000"/>
              </a:lnSpc>
              <a:defRPr sz="1800" b="0" i="0">
                <a:solidFill>
                  <a:srgbClr val="000000"/>
                </a:solidFill>
                <a:latin typeface="Inter"/>
              </a:defRPr>
            </a:pPr>
            <a:r>
              <a:rPr sz="1800" b="0" i="0">
                <a:solidFill>
                  <a:srgbClr val="000000"/>
                </a:solidFill>
                <a:latin typeface="Inter"/>
              </a:rPr>
              <a:t>Vaqt bo‘yicha trafikda ish soatlari davomida 40% o‘sish kuzatiladi.</a:t>
            </a:r>
            <a:endParaRPr sz="1800" b="0" i="0">
              <a:solidFill>
                <a:srgbClr val="000000"/>
              </a:solidFill>
              <a:latin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2160905" y="460375"/>
            <a:ext cx="11582400" cy="1282700"/>
          </a:xfrm>
          <a:prstGeom prst="rect">
            <a:avLst/>
          </a:prstGeom>
          <a:noFill/>
        </p:spPr>
        <p:txBody>
          <a:bodyPr wrap="square" lIns="0" tIns="0" rIns="0" bIns="0">
            <a:spAutoFit/>
          </a:bodyPr>
          <a:lstStyle/>
          <a:p>
            <a:pPr algn="ctr">
              <a:lnSpc>
                <a:spcPct val="80000"/>
              </a:lnSpc>
              <a:defRPr sz="4600" b="1" i="0">
                <a:solidFill>
                  <a:srgbClr val="000000"/>
                </a:solidFill>
                <a:latin typeface="Inter"/>
              </a:defRPr>
            </a:pPr>
            <a:r>
              <a:rPr sz="4600" b="1" i="0">
                <a:solidFill>
                  <a:srgbClr val="000000"/>
                </a:solidFill>
                <a:latin typeface="Inter"/>
              </a:rPr>
              <a:t>Grafik (line): DDoS hujumlari kuchi va soni o‘sish dinamikasi</a:t>
            </a:r>
            <a:endParaRPr sz="4600" b="1" i="0">
              <a:solidFill>
                <a:srgbClr val="000000"/>
              </a:solidFill>
              <a:latin typeface="Inter"/>
            </a:endParaRPr>
          </a:p>
        </p:txBody>
      </p:sp>
      <p:sp>
        <p:nvSpPr>
          <p:cNvPr id="3" name="Rounded Rectangle 2"/>
          <p:cNvSpPr/>
          <p:nvPr/>
        </p:nvSpPr>
        <p:spPr>
          <a:xfrm>
            <a:off x="825500" y="2413000"/>
            <a:ext cx="6731000" cy="5715000"/>
          </a:xfrm>
          <a:prstGeom prst="roundRect">
            <a:avLst>
              <a:gd name="adj" fmla="val 22222"/>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Rounded Rectangle 3"/>
          <p:cNvSpPr/>
          <p:nvPr/>
        </p:nvSpPr>
        <p:spPr>
          <a:xfrm>
            <a:off x="1993900" y="2946400"/>
            <a:ext cx="279400" cy="279400"/>
          </a:xfrm>
          <a:prstGeom prst="roundRect">
            <a:avLst>
              <a:gd name="adj" fmla="val 454545"/>
            </a:avLst>
          </a:prstGeom>
          <a:solidFill>
            <a:srgbClr val="FFFFFF"/>
          </a:solidFill>
          <a:ln w="12700">
            <a:solidFill>
              <a:srgbClr val="CCCCCC"/>
            </a:solid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p>
        </p:txBody>
      </p:sp>
      <p:sp>
        <p:nvSpPr>
          <p:cNvPr id="5" name="Rounded Rectangle 4"/>
          <p:cNvSpPr/>
          <p:nvPr/>
        </p:nvSpPr>
        <p:spPr>
          <a:xfrm>
            <a:off x="2349500" y="7493000"/>
            <a:ext cx="152400" cy="152400"/>
          </a:xfrm>
          <a:prstGeom prst="roundRect">
            <a:avLst>
              <a:gd name="adj" fmla="val 33333"/>
            </a:avLst>
          </a:prstGeom>
          <a:solidFill>
            <a:srgbClr val="2563EB"/>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6" name="TextBox 5"/>
          <p:cNvSpPr txBox="1"/>
          <p:nvPr/>
        </p:nvSpPr>
        <p:spPr>
          <a:xfrm>
            <a:off x="2603500" y="7416800"/>
            <a:ext cx="939800" cy="304800"/>
          </a:xfrm>
          <a:prstGeom prst="rect">
            <a:avLst/>
          </a:prstGeom>
          <a:noFill/>
        </p:spPr>
        <p:txBody>
          <a:bodyPr wrap="none" lIns="0" tIns="0" rIns="0" bIns="0">
            <a:spAutoFit/>
          </a:bodyPr>
          <a:lstStyle/>
          <a:p>
            <a:pPr algn="l">
              <a:defRPr sz="1600" b="0" i="0">
                <a:solidFill>
                  <a:srgbClr val="000000"/>
                </a:solidFill>
                <a:latin typeface="Inter"/>
              </a:defRPr>
            </a:pPr>
            <a:r>
              <a:rPr sz="1600" b="0" i="0">
                <a:solidFill>
                  <a:srgbClr val="000000"/>
                </a:solidFill>
                <a:latin typeface="Inter"/>
              </a:rPr>
              <a:t>2023: 2.5</a:t>
            </a:r>
            <a:endParaRPr sz="1600" b="0" i="0">
              <a:solidFill>
                <a:srgbClr val="000000"/>
              </a:solidFill>
              <a:latin typeface="Inter"/>
            </a:endParaRPr>
          </a:p>
        </p:txBody>
      </p:sp>
      <p:sp>
        <p:nvSpPr>
          <p:cNvPr id="7" name="Rounded Rectangle 6"/>
          <p:cNvSpPr/>
          <p:nvPr/>
        </p:nvSpPr>
        <p:spPr>
          <a:xfrm>
            <a:off x="3822700" y="7493000"/>
            <a:ext cx="152400" cy="152400"/>
          </a:xfrm>
          <a:prstGeom prst="roundRect">
            <a:avLst>
              <a:gd name="adj" fmla="val 33333"/>
            </a:avLst>
          </a:prstGeom>
          <a:solidFill>
            <a:srgbClr val="16A34A"/>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8" name="TextBox 7"/>
          <p:cNvSpPr txBox="1"/>
          <p:nvPr/>
        </p:nvSpPr>
        <p:spPr>
          <a:xfrm>
            <a:off x="4076700" y="7416800"/>
            <a:ext cx="723900" cy="304800"/>
          </a:xfrm>
          <a:prstGeom prst="rect">
            <a:avLst/>
          </a:prstGeom>
          <a:noFill/>
        </p:spPr>
        <p:txBody>
          <a:bodyPr wrap="none" lIns="0" tIns="0" rIns="0" bIns="0">
            <a:spAutoFit/>
          </a:bodyPr>
          <a:lstStyle/>
          <a:p>
            <a:pPr algn="l">
              <a:defRPr sz="1600" b="0" i="0">
                <a:solidFill>
                  <a:srgbClr val="000000"/>
                </a:solidFill>
                <a:latin typeface="Inter"/>
              </a:defRPr>
            </a:pPr>
            <a:r>
              <a:rPr sz="1600" b="0" i="0">
                <a:solidFill>
                  <a:srgbClr val="000000"/>
                </a:solidFill>
                <a:latin typeface="Inter"/>
              </a:rPr>
              <a:t>2022: 1</a:t>
            </a:r>
            <a:endParaRPr sz="1600" b="0" i="0">
              <a:solidFill>
                <a:srgbClr val="000000"/>
              </a:solidFill>
              <a:latin typeface="Inter"/>
            </a:endParaRPr>
          </a:p>
        </p:txBody>
      </p:sp>
      <p:sp>
        <p:nvSpPr>
          <p:cNvPr id="9" name="Rounded Rectangle 8"/>
          <p:cNvSpPr/>
          <p:nvPr/>
        </p:nvSpPr>
        <p:spPr>
          <a:xfrm>
            <a:off x="5080000" y="7493000"/>
            <a:ext cx="152400" cy="152400"/>
          </a:xfrm>
          <a:prstGeom prst="roundRect">
            <a:avLst>
              <a:gd name="adj" fmla="val 33333"/>
            </a:avLst>
          </a:prstGeom>
          <a:solidFill>
            <a:srgbClr val="F97316"/>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10" name="TextBox 9"/>
          <p:cNvSpPr txBox="1"/>
          <p:nvPr/>
        </p:nvSpPr>
        <p:spPr>
          <a:xfrm>
            <a:off x="5334000" y="7416800"/>
            <a:ext cx="723900" cy="304800"/>
          </a:xfrm>
          <a:prstGeom prst="rect">
            <a:avLst/>
          </a:prstGeom>
          <a:noFill/>
        </p:spPr>
        <p:txBody>
          <a:bodyPr wrap="none" lIns="0" tIns="0" rIns="0" bIns="0">
            <a:spAutoFit/>
          </a:bodyPr>
          <a:lstStyle/>
          <a:p>
            <a:pPr algn="l">
              <a:defRPr sz="1600" b="0" i="0">
                <a:solidFill>
                  <a:srgbClr val="000000"/>
                </a:solidFill>
                <a:latin typeface="Inter"/>
              </a:defRPr>
            </a:pPr>
            <a:r>
              <a:rPr sz="1600" b="0" i="0">
                <a:solidFill>
                  <a:srgbClr val="000000"/>
                </a:solidFill>
                <a:latin typeface="Inter"/>
              </a:rPr>
              <a:t>2023: 1</a:t>
            </a:r>
            <a:endParaRPr sz="1600" b="0" i="0">
              <a:solidFill>
                <a:srgbClr val="000000"/>
              </a:solidFill>
              <a:latin typeface="Inter"/>
            </a:endParaRPr>
          </a:p>
        </p:txBody>
      </p:sp>
      <p:sp>
        <p:nvSpPr>
          <p:cNvPr id="11" name="TextBox 10"/>
          <p:cNvSpPr txBox="1"/>
          <p:nvPr/>
        </p:nvSpPr>
        <p:spPr>
          <a:xfrm>
            <a:off x="8572500" y="2557780"/>
            <a:ext cx="7289800" cy="825500"/>
          </a:xfrm>
          <a:prstGeom prst="rect">
            <a:avLst/>
          </a:prstGeom>
          <a:noFill/>
        </p:spPr>
        <p:txBody>
          <a:bodyPr wrap="square" lIns="0" tIns="0" rIns="0" bIns="0">
            <a:spAutoFit/>
          </a:bodyPr>
          <a:lstStyle/>
          <a:p>
            <a:pPr algn="l">
              <a:defRPr sz="2600" b="1" i="0">
                <a:solidFill>
                  <a:srgbClr val="000000"/>
                </a:solidFill>
                <a:latin typeface="Inter"/>
              </a:defRPr>
            </a:pPr>
            <a:r>
              <a:rPr sz="2600" b="1" i="0">
                <a:solidFill>
                  <a:srgbClr val="000000"/>
                </a:solidFill>
                <a:latin typeface="Inter"/>
              </a:rPr>
              <a:t>2023-yilda DDoS hujumlari soni 2.5 baravarga oshgani aniqlangan.</a:t>
            </a:r>
            <a:endParaRPr sz="2600" b="1" i="0">
              <a:solidFill>
                <a:srgbClr val="000000"/>
              </a:solidFill>
              <a:latin typeface="Inter"/>
            </a:endParaRPr>
          </a:p>
        </p:txBody>
      </p:sp>
      <p:sp>
        <p:nvSpPr>
          <p:cNvPr id="12" name="Rounded Rectangle 11"/>
          <p:cNvSpPr/>
          <p:nvPr/>
        </p:nvSpPr>
        <p:spPr>
          <a:xfrm>
            <a:off x="8166100" y="3644900"/>
            <a:ext cx="7264400" cy="3797300"/>
          </a:xfrm>
          <a:prstGeom prst="roundRect">
            <a:avLst>
              <a:gd name="adj" fmla="val 26755"/>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13" name="TextBox 12"/>
          <p:cNvSpPr txBox="1"/>
          <p:nvPr/>
        </p:nvSpPr>
        <p:spPr>
          <a:xfrm>
            <a:off x="8572500" y="4483100"/>
            <a:ext cx="6477000" cy="850900"/>
          </a:xfrm>
          <a:prstGeom prst="rect">
            <a:avLst/>
          </a:prstGeom>
          <a:noFill/>
        </p:spPr>
        <p:txBody>
          <a:bodyPr wrap="square" lIns="0" tIns="0" rIns="0" bIns="0">
            <a:spAutoFit/>
          </a:bodyPr>
          <a:lstStyle/>
          <a:p>
            <a:pPr>
              <a:defRPr sz="2400" b="0" i="0">
                <a:solidFill>
                  <a:srgbClr val="FFFFFF"/>
                </a:solidFill>
                <a:latin typeface="Inter"/>
              </a:defRPr>
            </a:pPr>
            <a:r>
              <a:rPr sz="2400" b="0" i="0">
                <a:solidFill>
                  <a:srgbClr val="FFFFFF"/>
                </a:solidFill>
                <a:latin typeface="Inter"/>
              </a:rPr>
              <a:t>DDoS hujumlarining o‘rtacha quvvati so‘nggi davrda 1 Tbps darajasiga yetdi.</a:t>
            </a:r>
            <a:endParaRPr sz="2400" b="0" i="0">
              <a:solidFill>
                <a:srgbClr val="FFFFFF"/>
              </a:solidFill>
              <a:latin typeface="Inter"/>
            </a:endParaRPr>
          </a:p>
        </p:txBody>
      </p:sp>
      <p:sp>
        <p:nvSpPr>
          <p:cNvPr id="14" name="TextBox 13"/>
          <p:cNvSpPr txBox="1"/>
          <p:nvPr/>
        </p:nvSpPr>
        <p:spPr>
          <a:xfrm>
            <a:off x="8572500" y="5334000"/>
            <a:ext cx="6477000" cy="850900"/>
          </a:xfrm>
          <a:prstGeom prst="rect">
            <a:avLst/>
          </a:prstGeom>
          <a:noFill/>
        </p:spPr>
        <p:txBody>
          <a:bodyPr wrap="square" lIns="0" tIns="0" rIns="0" bIns="0">
            <a:spAutoFit/>
          </a:bodyPr>
          <a:lstStyle/>
          <a:p>
            <a:pPr>
              <a:defRPr sz="2400" b="0" i="0">
                <a:solidFill>
                  <a:srgbClr val="FFFFFF"/>
                </a:solidFill>
                <a:latin typeface="Inter"/>
              </a:defRPr>
            </a:pPr>
            <a:r>
              <a:rPr sz="2400" b="0" i="0">
                <a:solidFill>
                  <a:srgbClr val="FFFFFF"/>
                </a:solidFill>
                <a:latin typeface="Inter"/>
              </a:rPr>
              <a:t>Moliyaviy sektorda yuzaga kelgan zararlar 1 million dollarga teng ekan.</a:t>
            </a:r>
            <a:endParaRPr sz="2400" b="0" i="0">
              <a:solidFill>
                <a:srgbClr val="FFFFFF"/>
              </a:solidFill>
              <a:latin typeface="Inter"/>
            </a:endParaRPr>
          </a:p>
        </p:txBody>
      </p:sp>
      <p:sp>
        <p:nvSpPr>
          <p:cNvPr id="15" name="TextBox 14"/>
          <p:cNvSpPr txBox="1"/>
          <p:nvPr/>
        </p:nvSpPr>
        <p:spPr>
          <a:xfrm>
            <a:off x="8572500" y="6184900"/>
            <a:ext cx="6477000" cy="850900"/>
          </a:xfrm>
          <a:prstGeom prst="rect">
            <a:avLst/>
          </a:prstGeom>
          <a:noFill/>
        </p:spPr>
        <p:txBody>
          <a:bodyPr wrap="square" lIns="0" tIns="0" rIns="0" bIns="0">
            <a:spAutoFit/>
          </a:bodyPr>
          <a:lstStyle/>
          <a:p>
            <a:pPr>
              <a:defRPr sz="2400" b="0" i="0">
                <a:solidFill>
                  <a:srgbClr val="FFFFFF"/>
                </a:solidFill>
                <a:latin typeface="Inter"/>
              </a:defRPr>
            </a:pPr>
            <a:r>
              <a:rPr sz="2400" b="0" i="0">
                <a:solidFill>
                  <a:srgbClr val="FFFFFF"/>
                </a:solidFill>
                <a:latin typeface="Inter"/>
              </a:rPr>
              <a:t>Jadval va diagrammada 2.5%, 1% va 1% o‘sish ko‘rsatilgan.</a:t>
            </a:r>
            <a:endParaRPr sz="2400" b="0" i="0">
              <a:solidFill>
                <a:srgbClr val="FFFFFF"/>
              </a:solidFill>
              <a:latin typeface="Inter"/>
            </a:endParaRPr>
          </a:p>
        </p:txBody>
      </p:sp>
      <p:pic>
        <p:nvPicPr>
          <p:cNvPr id="16" name="Picture 15" descr="a0eb37fa-866e-4e35-bdfb-a554883ad017.png"/>
          <p:cNvPicPr>
            <a:picLocks noChangeAspect="1"/>
          </p:cNvPicPr>
          <p:nvPr/>
        </p:nvPicPr>
        <p:blipFill>
          <a:blip r:embed="rId1"/>
          <a:stretch>
            <a:fillRect/>
          </a:stretch>
        </p:blipFill>
        <p:spPr>
          <a:xfrm>
            <a:off x="1231900" y="2819400"/>
            <a:ext cx="5918200" cy="4445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Изображение 1"/>
          <p:cNvPicPr>
            <a:picLocks noChangeAspect="1"/>
          </p:cNvPicPr>
          <p:nvPr/>
        </p:nvPicPr>
        <p:blipFill>
          <a:blip r:embed="rId1"/>
          <a:srcRect t="2403" r="68620" b="7646"/>
          <a:stretch>
            <a:fillRect/>
          </a:stretch>
        </p:blipFill>
        <p:spPr>
          <a:xfrm>
            <a:off x="1402080" y="1016000"/>
            <a:ext cx="5496560" cy="7517130"/>
          </a:xfrm>
          <a:prstGeom prst="rect">
            <a:avLst/>
          </a:prstGeom>
        </p:spPr>
      </p:pic>
      <p:sp>
        <p:nvSpPr>
          <p:cNvPr id="4" name="TextBox 3"/>
          <p:cNvSpPr txBox="1"/>
          <p:nvPr/>
        </p:nvSpPr>
        <p:spPr>
          <a:xfrm>
            <a:off x="7675880" y="1211580"/>
            <a:ext cx="6156960" cy="7125970"/>
          </a:xfrm>
          <a:prstGeom prst="rect">
            <a:avLst/>
          </a:prstGeom>
        </p:spPr>
        <p:style>
          <a:lnRef idx="0">
            <a:srgbClr val="FFFFFF"/>
          </a:lnRef>
          <a:fillRef idx="3">
            <a:schemeClr val="accent1"/>
          </a:fillRef>
          <a:effectRef idx="0">
            <a:srgbClr val="FFFFFF"/>
          </a:effectRef>
          <a:fontRef idx="minor">
            <a:schemeClr val="lt1"/>
          </a:fontRef>
        </p:style>
        <p:txBody>
          <a:bodyPr wrap="square">
            <a:noAutofit/>
          </a:bodyPr>
          <a:p>
            <a:pPr>
              <a:lnSpc>
                <a:spcPct val="150000"/>
              </a:lnSpc>
              <a:defRPr sz="1400"/>
            </a:pPr>
            <a:r>
              <a:rPr sz="1600" b="1">
                <a:solidFill>
                  <a:schemeClr val="tx1"/>
                </a:solidFill>
                <a:latin typeface="Times New Roman" panose="02020603050405020304" charset="0"/>
                <a:cs typeface="Times New Roman" panose="02020603050405020304" charset="0"/>
              </a:rPr>
              <a:t>Asosiy oyna tarkibi: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Chap panel — boshqaruv menyusi va barcha funksiyalar tugmalari.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IP manzil kiritish maydoni — tekshiriladigan IP yoziladi.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IP Lookup — IP manzilning geolokatsiyasi va ISP ma'lumotlarini aniqlaydi.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Ping — host faol holatda ekanligini va javob vaqtini tekshiradi.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Port Scan — ochiq TCP portlarni aniqlaydi.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Block IP / Unblock IP — xavfsizlik devori orqali IP ni bloklaydi yoki blokdan chiqaradi.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Tozalash — natijalar oynasini tozalaydi.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Dark Mode / Light Mode — interfeys ko'rinishini o'zgartiradi.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Natijalar oynasi — barcha tekshiruv natijalari shu yerda ko'rsatiladi.</a:t>
            </a:r>
            <a:br>
              <a:rPr sz="1600" b="1">
                <a:solidFill>
                  <a:schemeClr val="tx1"/>
                </a:solidFill>
                <a:latin typeface="Times New Roman" panose="02020603050405020304" charset="0"/>
                <a:cs typeface="Times New Roman" panose="02020603050405020304" charset="0"/>
              </a:rPr>
            </a:br>
            <a:r>
              <a:rPr sz="1600" b="1">
                <a:solidFill>
                  <a:schemeClr val="tx1"/>
                </a:solidFill>
                <a:latin typeface="Times New Roman" panose="02020603050405020304" charset="0"/>
                <a:cs typeface="Times New Roman" panose="02020603050405020304" charset="0"/>
              </a:rPr>
              <a:t>• Progress indikator — jarayon bajarilayotganini bildiradi.</a:t>
            </a:r>
            <a:br>
              <a:rPr sz="1600" b="1">
                <a:solidFill>
                  <a:schemeClr val="tx1"/>
                </a:solidFill>
                <a:latin typeface="Times New Roman" panose="02020603050405020304" charset="0"/>
                <a:cs typeface="Times New Roman" panose="02020603050405020304" charset="0"/>
              </a:rPr>
            </a:br>
            <a:br>
              <a:rPr sz="1600" b="1">
                <a:solidFill>
                  <a:schemeClr val="tx1"/>
                </a:solidFill>
                <a:latin typeface="Times New Roman" panose="02020603050405020304" charset="0"/>
                <a:cs typeface="Times New Roman" panose="02020603050405020304" charset="0"/>
              </a:rPr>
            </a:br>
            <a:endParaRPr sz="1600" b="1">
              <a:solidFill>
                <a:schemeClr val="tx1"/>
              </a:solidFill>
              <a:latin typeface="Times New Roman" panose="02020603050405020304" charset="0"/>
              <a:cs typeface="Times New Roman" panose="02020603050405020304" charset="0"/>
            </a:endParaRPr>
          </a:p>
        </p:txBody>
      </p:sp>
      <p:sp>
        <p:nvSpPr>
          <p:cNvPr id="3" name="TextBox 1"/>
          <p:cNvSpPr txBox="1"/>
          <p:nvPr/>
        </p:nvSpPr>
        <p:spPr>
          <a:xfrm>
            <a:off x="1950085" y="309880"/>
            <a:ext cx="11430000" cy="548640"/>
          </a:xfrm>
          <a:prstGeom prst="rect">
            <a:avLst/>
          </a:prstGeom>
          <a:noFill/>
        </p:spPr>
        <p:txBody>
          <a:bodyPr wrap="none">
            <a:spAutoFit/>
          </a:bodyPr>
          <a:p>
            <a:pPr algn="ctr">
              <a:defRPr sz="2800" b="1"/>
            </a:pPr>
            <a:r>
              <a:t>IP Monitor Pro dasturining asosiy oynasi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873125" y="182880"/>
            <a:ext cx="10972800" cy="548640"/>
          </a:xfrm>
          <a:prstGeom prst="rect">
            <a:avLst/>
          </a:prstGeom>
          <a:noFill/>
        </p:spPr>
        <p:txBody>
          <a:bodyPr wrap="none">
            <a:spAutoFit/>
          </a:bodyPr>
          <a:lstStyle/>
          <a:p>
            <a:pPr algn="ctr">
              <a:defRPr sz="2600" b="1"/>
            </a:pPr>
            <a:r>
              <a:t>1. IP Lookup</a:t>
            </a:r>
          </a:p>
        </p:txBody>
      </p:sp>
      <p:pic>
        <p:nvPicPr>
          <p:cNvPr id="3" name="Picture 2" descr="image.png"/>
          <p:cNvPicPr>
            <a:picLocks noChangeAspect="1"/>
          </p:cNvPicPr>
          <p:nvPr/>
        </p:nvPicPr>
        <p:blipFill>
          <a:blip r:embed="rId1"/>
          <a:stretch>
            <a:fillRect/>
          </a:stretch>
        </p:blipFill>
        <p:spPr>
          <a:xfrm>
            <a:off x="1129030" y="731520"/>
            <a:ext cx="8612505" cy="4921885"/>
          </a:xfrm>
          <a:prstGeom prst="rect">
            <a:avLst/>
          </a:prstGeom>
        </p:spPr>
      </p:pic>
      <p:sp>
        <p:nvSpPr>
          <p:cNvPr id="4" name="TextBox 3"/>
          <p:cNvSpPr txBox="1"/>
          <p:nvPr/>
        </p:nvSpPr>
        <p:spPr>
          <a:xfrm>
            <a:off x="873125" y="5662930"/>
            <a:ext cx="20351115" cy="1130300"/>
          </a:xfrm>
          <a:prstGeom prst="rect">
            <a:avLst/>
          </a:prstGeom>
          <a:noFill/>
        </p:spPr>
        <p:txBody>
          <a:bodyPr wrap="none">
            <a:noAutofit/>
          </a:bodyPr>
          <a:lstStyle/>
          <a:p>
            <a:pPr algn="l">
              <a:lnSpc>
                <a:spcPct val="150000"/>
              </a:lnSpc>
              <a:defRPr sz="1800"/>
            </a:pPr>
            <a:r>
              <a:rPr>
                <a:latin typeface="Times New Roman" panose="02020603050405020304" charset="0"/>
                <a:cs typeface="Times New Roman" panose="02020603050405020304" charset="0"/>
                <a:sym typeface="+mn-ea"/>
              </a:rPr>
              <a:t>IP Lookup moduli foydalanuvchi tomonidan kiritilgan IP manzil haqida geografik va texnik ma'lumotlarni aniqlaydi.</a:t>
            </a:r>
            <a:endParaRPr>
              <a:latin typeface="Times New Roman" panose="02020603050405020304" charset="0"/>
              <a:cs typeface="Times New Roman" panose="02020603050405020304" charset="0"/>
              <a:sym typeface="+mn-ea"/>
            </a:endParaRPr>
          </a:p>
          <a:p>
            <a:pPr algn="l">
              <a:lnSpc>
                <a:spcPct val="150000"/>
              </a:lnSpc>
              <a:defRPr sz="1800"/>
            </a:pPr>
            <a:r>
              <a:rPr>
                <a:latin typeface="Times New Roman" panose="02020603050405020304" charset="0"/>
                <a:cs typeface="Times New Roman" panose="02020603050405020304" charset="0"/>
                <a:sym typeface="+mn-ea"/>
              </a:rPr>
              <a:t> Tizim tashqi xizmatlar orqali davlat, shahar, internet provayderi (ISP), vaqt zonasi va taxminiy koordinatalarni oladi.</a:t>
            </a:r>
            <a:endParaRPr>
              <a:latin typeface="Times New Roman" panose="02020603050405020304" charset="0"/>
              <a:cs typeface="Times New Roman" panose="02020603050405020304" charset="0"/>
              <a:sym typeface="+mn-ea"/>
            </a:endParaRPr>
          </a:p>
          <a:p>
            <a:pPr algn="l">
              <a:lnSpc>
                <a:spcPct val="150000"/>
              </a:lnSpc>
              <a:defRPr sz="1800"/>
            </a:pPr>
            <a:r>
              <a:rPr>
                <a:latin typeface="Times New Roman" panose="02020603050405020304" charset="0"/>
                <a:cs typeface="Times New Roman" panose="02020603050405020304" charset="0"/>
                <a:sym typeface="+mn-ea"/>
              </a:rPr>
              <a:t> Bu usul tarmoqdagi shubhali manzillar kelib chiqishini aniqlashda muhim ahamiyatga ega.</a:t>
            </a:r>
            <a:br>
              <a:rPr>
                <a:latin typeface="Times New Roman" panose="02020603050405020304" charset="0"/>
                <a:cs typeface="Times New Roman" panose="02020603050405020304" charset="0"/>
                <a:sym typeface="+mn-ea"/>
              </a:rPr>
            </a:b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Amaliy qo'llanishi:</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Shubhali IP qaysi davlatga tegishli ekanini aniqlash.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Botnet yoki VPN manzillarini topish.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Tarmoq hodisalarini geolokatsiya bo'yicha tahlil qilish.</a:t>
            </a:r>
            <a:endParaRPr>
              <a:latin typeface="Times New Roman" panose="02020603050405020304" charset="0"/>
              <a:cs typeface="Times New Roman" panose="02020603050405020304" charset="0"/>
              <a:sym typeface="+mn-ea"/>
            </a:endParaRPr>
          </a:p>
        </p:txBody>
      </p:sp>
      <p:sp>
        <p:nvSpPr>
          <p:cNvPr id="5" name="TextBox 4"/>
          <p:cNvSpPr txBox="1"/>
          <p:nvPr/>
        </p:nvSpPr>
        <p:spPr>
          <a:xfrm>
            <a:off x="10153015" y="970915"/>
            <a:ext cx="4338320" cy="468312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nSpc>
                <a:spcPct val="150000"/>
              </a:lnSpc>
              <a:defRPr sz="1500" b="1"/>
            </a:pPr>
            <a:r>
              <a:rPr sz="2800">
                <a:solidFill>
                  <a:schemeClr val="tx1"/>
                </a:solidFill>
                <a:latin typeface="Times New Roman" panose="02020603050405020304" charset="0"/>
                <a:cs typeface="Times New Roman" panose="02020603050405020304" charset="0"/>
              </a:rPr>
              <a:t>Ishlash jarayoni:</a:t>
            </a:r>
            <a:endParaRPr sz="2800">
              <a:solidFill>
                <a:schemeClr val="tx1"/>
              </a:solidFill>
              <a:latin typeface="Times New Roman" panose="02020603050405020304" charset="0"/>
              <a:cs typeface="Times New Roman" panose="02020603050405020304" charset="0"/>
            </a:endParaRPr>
          </a:p>
          <a:p>
            <a:pPr>
              <a:lnSpc>
                <a:spcPct val="150000"/>
              </a:lnSpc>
              <a:defRPr sz="1500"/>
            </a:pPr>
            <a:r>
              <a:rPr sz="2800">
                <a:solidFill>
                  <a:schemeClr val="tx1"/>
                </a:solidFill>
                <a:latin typeface="Times New Roman" panose="02020603050405020304" charset="0"/>
                <a:cs typeface="Times New Roman" panose="02020603050405020304" charset="0"/>
              </a:rPr>
              <a:t>1.</a:t>
            </a:r>
            <a:r>
              <a:rPr sz="2800" b="1">
                <a:solidFill>
                  <a:schemeClr val="tx1"/>
                </a:solidFill>
                <a:latin typeface="Times New Roman" panose="02020603050405020304" charset="0"/>
                <a:cs typeface="Times New Roman" panose="02020603050405020304" charset="0"/>
              </a:rPr>
              <a:t> IP manzil kiritiladi.</a:t>
            </a:r>
            <a:endParaRPr sz="2800" b="1">
              <a:solidFill>
                <a:schemeClr val="tx1"/>
              </a:solidFill>
              <a:latin typeface="Times New Roman" panose="02020603050405020304" charset="0"/>
              <a:cs typeface="Times New Roman" panose="02020603050405020304" charset="0"/>
            </a:endParaRPr>
          </a:p>
          <a:p>
            <a:pPr>
              <a:lnSpc>
                <a:spcPct val="150000"/>
              </a:lnSpc>
              <a:defRPr sz="1500"/>
            </a:pPr>
            <a:r>
              <a:rPr sz="2800" b="1">
                <a:solidFill>
                  <a:schemeClr val="tx1"/>
                </a:solidFill>
                <a:latin typeface="Times New Roman" panose="02020603050405020304" charset="0"/>
                <a:cs typeface="Times New Roman" panose="02020603050405020304" charset="0"/>
              </a:rPr>
              <a:t>2. Kerakli funksiya tanlanadi.</a:t>
            </a:r>
            <a:endParaRPr sz="2800" b="1">
              <a:solidFill>
                <a:schemeClr val="tx1"/>
              </a:solidFill>
              <a:latin typeface="Times New Roman" panose="02020603050405020304" charset="0"/>
              <a:cs typeface="Times New Roman" panose="02020603050405020304" charset="0"/>
            </a:endParaRPr>
          </a:p>
          <a:p>
            <a:pPr>
              <a:lnSpc>
                <a:spcPct val="150000"/>
              </a:lnSpc>
              <a:defRPr sz="1500"/>
            </a:pPr>
            <a:r>
              <a:rPr sz="2800" b="1">
                <a:solidFill>
                  <a:schemeClr val="tx1"/>
                </a:solidFill>
                <a:latin typeface="Times New Roman" panose="02020603050405020304" charset="0"/>
                <a:cs typeface="Times New Roman" panose="02020603050405020304" charset="0"/>
              </a:rPr>
              <a:t>3. Dastur so'rov yuboradi.</a:t>
            </a:r>
            <a:endParaRPr sz="2800" b="1">
              <a:solidFill>
                <a:schemeClr val="tx1"/>
              </a:solidFill>
              <a:latin typeface="Times New Roman" panose="02020603050405020304" charset="0"/>
              <a:cs typeface="Times New Roman" panose="02020603050405020304" charset="0"/>
            </a:endParaRPr>
          </a:p>
          <a:p>
            <a:pPr>
              <a:lnSpc>
                <a:spcPct val="150000"/>
              </a:lnSpc>
              <a:defRPr sz="1500"/>
            </a:pPr>
            <a:r>
              <a:rPr sz="2800" b="1">
                <a:solidFill>
                  <a:schemeClr val="tx1"/>
                </a:solidFill>
                <a:latin typeface="Times New Roman" panose="02020603050405020304" charset="0"/>
                <a:cs typeface="Times New Roman" panose="02020603050405020304" charset="0"/>
              </a:rPr>
              <a:t>4. Natija qayta ishlanadi.</a:t>
            </a:r>
            <a:endParaRPr sz="2800" b="1">
              <a:solidFill>
                <a:schemeClr val="tx1"/>
              </a:solidFill>
              <a:latin typeface="Times New Roman" panose="02020603050405020304" charset="0"/>
              <a:cs typeface="Times New Roman" panose="02020603050405020304" charset="0"/>
            </a:endParaRPr>
          </a:p>
          <a:p>
            <a:pPr>
              <a:lnSpc>
                <a:spcPct val="150000"/>
              </a:lnSpc>
              <a:defRPr sz="1500"/>
            </a:pPr>
            <a:r>
              <a:rPr sz="2800" b="1">
                <a:solidFill>
                  <a:schemeClr val="tx1"/>
                </a:solidFill>
                <a:latin typeface="Times New Roman" panose="02020603050405020304" charset="0"/>
                <a:cs typeface="Times New Roman" panose="02020603050405020304" charset="0"/>
              </a:rPr>
              <a:t>5. Ekranga chiqariladi.</a:t>
            </a:r>
            <a:endParaRPr sz="2800" b="1">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82880"/>
            <a:ext cx="10972800" cy="548640"/>
          </a:xfrm>
          <a:prstGeom prst="rect">
            <a:avLst/>
          </a:prstGeom>
          <a:noFill/>
        </p:spPr>
        <p:txBody>
          <a:bodyPr wrap="none">
            <a:spAutoFit/>
          </a:bodyPr>
          <a:lstStyle/>
          <a:p>
            <a:pPr algn="ctr">
              <a:defRPr sz="2600" b="1"/>
            </a:pPr>
            <a:r>
              <a:t>2. Ping</a:t>
            </a:r>
          </a:p>
        </p:txBody>
      </p:sp>
      <p:pic>
        <p:nvPicPr>
          <p:cNvPr id="3" name="Picture 2" descr="image.png"/>
          <p:cNvPicPr>
            <a:picLocks noChangeAspect="1"/>
          </p:cNvPicPr>
          <p:nvPr/>
        </p:nvPicPr>
        <p:blipFill>
          <a:blip r:embed="rId1"/>
          <a:stretch>
            <a:fillRect/>
          </a:stretch>
        </p:blipFill>
        <p:spPr>
          <a:xfrm>
            <a:off x="987425" y="731520"/>
            <a:ext cx="7894955" cy="4511675"/>
          </a:xfrm>
          <a:prstGeom prst="rect">
            <a:avLst/>
          </a:prstGeom>
        </p:spPr>
      </p:pic>
      <p:sp>
        <p:nvSpPr>
          <p:cNvPr id="4" name="TextBox 3"/>
          <p:cNvSpPr txBox="1"/>
          <p:nvPr/>
        </p:nvSpPr>
        <p:spPr>
          <a:xfrm>
            <a:off x="1033780" y="5577840"/>
            <a:ext cx="13578205" cy="2999740"/>
          </a:xfrm>
          <a:prstGeom prst="rect">
            <a:avLst/>
          </a:prstGeom>
          <a:noFill/>
        </p:spPr>
        <p:txBody>
          <a:bodyPr wrap="none">
            <a:spAutoFit/>
          </a:bodyPr>
          <a:lstStyle/>
          <a:p>
            <a:pPr algn="l">
              <a:lnSpc>
                <a:spcPct val="150000"/>
              </a:lnSpc>
              <a:defRPr sz="1800"/>
            </a:pPr>
            <a:r>
              <a:rPr>
                <a:latin typeface="Times New Roman" panose="02020603050405020304" charset="0"/>
                <a:cs typeface="Times New Roman" panose="02020603050405020304" charset="0"/>
                <a:sym typeface="+mn-ea"/>
              </a:rPr>
              <a:t>Ping moduli ICMP Echo Request paketlarini yuborib, hostning faol yoki faol emasligini tekshiradi. </a:t>
            </a:r>
            <a:endParaRPr>
              <a:latin typeface="Times New Roman" panose="02020603050405020304" charset="0"/>
              <a:cs typeface="Times New Roman" panose="02020603050405020304" charset="0"/>
              <a:sym typeface="+mn-ea"/>
            </a:endParaRPr>
          </a:p>
          <a:p>
            <a:pPr algn="l">
              <a:lnSpc>
                <a:spcPct val="150000"/>
              </a:lnSpc>
              <a:defRPr sz="1800"/>
            </a:pPr>
            <a:r>
              <a:rPr>
                <a:latin typeface="Times New Roman" panose="02020603050405020304" charset="0"/>
                <a:cs typeface="Times New Roman" panose="02020603050405020304" charset="0"/>
                <a:sym typeface="+mn-ea"/>
              </a:rPr>
              <a:t>Javob vaqti (latency) millisekundlarda o'lchanadi. Paket yo'qotilishi tarmoqdagi uzilishlar yoki xavfsizlik devori cheklovlarini ko'rsatishi mumkin.</a:t>
            </a:r>
            <a:br>
              <a:rPr>
                <a:latin typeface="Times New Roman" panose="02020603050405020304" charset="0"/>
                <a:cs typeface="Times New Roman" panose="02020603050405020304" charset="0"/>
                <a:sym typeface="+mn-ea"/>
              </a:rPr>
            </a:b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Amaliy qo'llanishi:</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•Server ishlayotganini tekshirish.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Tarmoq kechikishini o'lchash.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Paket yo'qotilishi foizini aniqlash.</a:t>
            </a:r>
            <a:endParaRPr>
              <a:latin typeface="Times New Roman" panose="02020603050405020304" charset="0"/>
              <a:cs typeface="Times New Roman" panose="02020603050405020304" charset="0"/>
              <a:sym typeface="+mn-ea"/>
            </a:endParaRPr>
          </a:p>
        </p:txBody>
      </p:sp>
      <p:sp>
        <p:nvSpPr>
          <p:cNvPr id="5" name="TextBox 4"/>
          <p:cNvSpPr txBox="1"/>
          <p:nvPr/>
        </p:nvSpPr>
        <p:spPr>
          <a:xfrm>
            <a:off x="9156700" y="914400"/>
            <a:ext cx="5455285" cy="378968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nSpc>
                <a:spcPct val="150000"/>
              </a:lnSpc>
              <a:defRPr sz="1500" b="1"/>
            </a:pPr>
            <a:r>
              <a:rPr sz="2400">
                <a:solidFill>
                  <a:schemeClr val="tx1"/>
                </a:solidFill>
              </a:rPr>
              <a:t>Ishlash jarayoni:</a:t>
            </a:r>
            <a:endParaRPr sz="2400">
              <a:solidFill>
                <a:schemeClr val="tx1"/>
              </a:solidFill>
            </a:endParaRPr>
          </a:p>
          <a:p>
            <a:pPr>
              <a:lnSpc>
                <a:spcPct val="150000"/>
              </a:lnSpc>
              <a:defRPr sz="1500"/>
            </a:pPr>
            <a:r>
              <a:rPr sz="2400">
                <a:solidFill>
                  <a:schemeClr val="tx1"/>
                </a:solidFill>
              </a:rPr>
              <a:t>1. IP manzil kiritiladi.</a:t>
            </a:r>
            <a:endParaRPr sz="2400">
              <a:solidFill>
                <a:schemeClr val="tx1"/>
              </a:solidFill>
            </a:endParaRPr>
          </a:p>
          <a:p>
            <a:pPr>
              <a:lnSpc>
                <a:spcPct val="150000"/>
              </a:lnSpc>
              <a:defRPr sz="1500"/>
            </a:pPr>
            <a:r>
              <a:rPr sz="2400">
                <a:solidFill>
                  <a:schemeClr val="tx1"/>
                </a:solidFill>
              </a:rPr>
              <a:t>2. Kerakli funksiya tanlanadi.</a:t>
            </a:r>
            <a:endParaRPr sz="2400">
              <a:solidFill>
                <a:schemeClr val="tx1"/>
              </a:solidFill>
            </a:endParaRPr>
          </a:p>
          <a:p>
            <a:pPr>
              <a:lnSpc>
                <a:spcPct val="150000"/>
              </a:lnSpc>
              <a:defRPr sz="1500"/>
            </a:pPr>
            <a:r>
              <a:rPr sz="2400">
                <a:solidFill>
                  <a:schemeClr val="tx1"/>
                </a:solidFill>
              </a:rPr>
              <a:t>3. Dastur so'rov yuboradi.</a:t>
            </a:r>
            <a:endParaRPr sz="2400">
              <a:solidFill>
                <a:schemeClr val="tx1"/>
              </a:solidFill>
            </a:endParaRPr>
          </a:p>
          <a:p>
            <a:pPr>
              <a:lnSpc>
                <a:spcPct val="150000"/>
              </a:lnSpc>
              <a:defRPr sz="1500"/>
            </a:pPr>
            <a:r>
              <a:rPr sz="2400">
                <a:solidFill>
                  <a:schemeClr val="tx1"/>
                </a:solidFill>
              </a:rPr>
              <a:t>4. Natija qayta ishlanadi.</a:t>
            </a:r>
            <a:endParaRPr sz="2400">
              <a:solidFill>
                <a:schemeClr val="tx1"/>
              </a:solidFill>
            </a:endParaRPr>
          </a:p>
          <a:p>
            <a:pPr>
              <a:lnSpc>
                <a:spcPct val="150000"/>
              </a:lnSpc>
              <a:defRPr sz="1500"/>
            </a:pPr>
            <a:r>
              <a:rPr sz="2400">
                <a:solidFill>
                  <a:schemeClr val="tx1"/>
                </a:solidFill>
              </a:rPr>
              <a:t>5. Ekranga chiqariladi.</a:t>
            </a:r>
            <a:endParaRPr sz="240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82880"/>
            <a:ext cx="10972800" cy="548640"/>
          </a:xfrm>
          <a:prstGeom prst="rect">
            <a:avLst/>
          </a:prstGeom>
          <a:noFill/>
        </p:spPr>
        <p:txBody>
          <a:bodyPr wrap="none">
            <a:spAutoFit/>
          </a:bodyPr>
          <a:lstStyle/>
          <a:p>
            <a:pPr algn="ctr">
              <a:defRPr sz="2600" b="1"/>
            </a:pPr>
            <a:r>
              <a:t>3. Port Scanner</a:t>
            </a:r>
          </a:p>
        </p:txBody>
      </p:sp>
      <p:pic>
        <p:nvPicPr>
          <p:cNvPr id="3" name="Picture 2" descr="image.png"/>
          <p:cNvPicPr>
            <a:picLocks noChangeAspect="1"/>
          </p:cNvPicPr>
          <p:nvPr/>
        </p:nvPicPr>
        <p:blipFill>
          <a:blip r:embed="rId1"/>
          <a:stretch>
            <a:fillRect/>
          </a:stretch>
        </p:blipFill>
        <p:spPr>
          <a:xfrm>
            <a:off x="548640" y="822960"/>
            <a:ext cx="7785735" cy="4449445"/>
          </a:xfrm>
          <a:prstGeom prst="rect">
            <a:avLst/>
          </a:prstGeom>
        </p:spPr>
      </p:pic>
      <p:sp>
        <p:nvSpPr>
          <p:cNvPr id="4" name="TextBox 3"/>
          <p:cNvSpPr txBox="1"/>
          <p:nvPr/>
        </p:nvSpPr>
        <p:spPr>
          <a:xfrm>
            <a:off x="548640" y="5577840"/>
            <a:ext cx="15667355" cy="2584450"/>
          </a:xfrm>
          <a:prstGeom prst="rect">
            <a:avLst/>
          </a:prstGeom>
          <a:noFill/>
        </p:spPr>
        <p:txBody>
          <a:bodyPr wrap="none">
            <a:spAutoFit/>
          </a:bodyPr>
          <a:lstStyle/>
          <a:p>
            <a:pPr algn="l">
              <a:lnSpc>
                <a:spcPct val="150000"/>
              </a:lnSpc>
              <a:defRPr sz="1800"/>
            </a:pPr>
            <a:r>
              <a:rPr>
                <a:latin typeface="Times New Roman" panose="02020603050405020304" charset="0"/>
                <a:cs typeface="Times New Roman" panose="02020603050405020304" charset="0"/>
                <a:sym typeface="+mn-ea"/>
              </a:rPr>
              <a:t>Port Scanner TCP portlarni tekshiradi va ochiq portlar ro'yxatini shakllantiradi. </a:t>
            </a:r>
            <a:endParaRPr>
              <a:latin typeface="Times New Roman" panose="02020603050405020304" charset="0"/>
              <a:cs typeface="Times New Roman" panose="02020603050405020304" charset="0"/>
              <a:sym typeface="+mn-ea"/>
            </a:endParaRPr>
          </a:p>
          <a:p>
            <a:pPr algn="l">
              <a:lnSpc>
                <a:spcPct val="150000"/>
              </a:lnSpc>
              <a:defRPr sz="1800"/>
            </a:pPr>
            <a:r>
              <a:rPr>
                <a:latin typeface="Times New Roman" panose="02020603050405020304" charset="0"/>
                <a:cs typeface="Times New Roman" panose="02020603050405020304" charset="0"/>
                <a:sym typeface="+mn-ea"/>
              </a:rPr>
              <a:t>Har bir ochiq port ma'lum xizmatga mos keladi (masalan, 80-port HTTP, 443-port HTTPS). Noma'lum ochiq portlar xavfsizlik nuqtai nazaridan xavf tug'dirishi mumkin.</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Amaliy qo'llanishi:</a:t>
            </a:r>
            <a:br>
              <a:rPr>
                <a:latin typeface="Times New Roman" panose="02020603050405020304" charset="0"/>
                <a:cs typeface="Times New Roman" panose="02020603050405020304" charset="0"/>
                <a:sym typeface="+mn-ea"/>
              </a:rPr>
            </a:br>
            <a:r>
              <a:rPr lang="en-US">
                <a:latin typeface="Times New Roman" panose="02020603050405020304" charset="0"/>
                <a:cs typeface="Times New Roman" panose="02020603050405020304" charset="0"/>
                <a:sym typeface="+mn-ea"/>
              </a:rPr>
              <a:t> </a:t>
            </a:r>
            <a:r>
              <a:rPr>
                <a:latin typeface="Times New Roman" panose="02020603050405020304" charset="0"/>
                <a:cs typeface="Times New Roman" panose="02020603050405020304" charset="0"/>
                <a:sym typeface="+mn-ea"/>
              </a:rPr>
              <a:t>Keraksiz xizmatlarni aniqlash.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Server konfiguratsiyasini tekshirish.</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Hujum yuzasini kamaytirish.</a:t>
            </a:r>
            <a:endParaRPr>
              <a:latin typeface="Times New Roman" panose="02020603050405020304" charset="0"/>
              <a:cs typeface="Times New Roman" panose="02020603050405020304" charset="0"/>
              <a:sym typeface="+mn-ea"/>
            </a:endParaRPr>
          </a:p>
        </p:txBody>
      </p:sp>
      <p:sp>
        <p:nvSpPr>
          <p:cNvPr id="5" name="TextBox 4"/>
          <p:cNvSpPr txBox="1"/>
          <p:nvPr/>
        </p:nvSpPr>
        <p:spPr>
          <a:xfrm>
            <a:off x="8732520" y="914400"/>
            <a:ext cx="6191885" cy="384937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nSpc>
                <a:spcPct val="150000"/>
              </a:lnSpc>
              <a:defRPr sz="1500" b="1"/>
            </a:pPr>
            <a:r>
              <a:rPr sz="2000">
                <a:solidFill>
                  <a:schemeClr val="tx1"/>
                </a:solidFill>
                <a:latin typeface="Times New Roman" panose="02020603050405020304" charset="0"/>
                <a:cs typeface="Times New Roman" panose="02020603050405020304" charset="0"/>
              </a:rPr>
              <a:t>Ishlash jarayoni:</a:t>
            </a:r>
            <a:endParaRPr sz="2000">
              <a:solidFill>
                <a:schemeClr val="tx1"/>
              </a:solidFill>
              <a:latin typeface="Times New Roman" panose="02020603050405020304" charset="0"/>
              <a:cs typeface="Times New Roman" panose="02020603050405020304" charset="0"/>
            </a:endParaRPr>
          </a:p>
          <a:p>
            <a:pPr>
              <a:lnSpc>
                <a:spcPct val="150000"/>
              </a:lnSpc>
              <a:defRPr sz="1500"/>
            </a:pPr>
            <a:r>
              <a:rPr sz="2000" b="1">
                <a:solidFill>
                  <a:schemeClr val="tx1"/>
                </a:solidFill>
                <a:latin typeface="Times New Roman" panose="02020603050405020304" charset="0"/>
                <a:cs typeface="Times New Roman" panose="02020603050405020304" charset="0"/>
              </a:rPr>
              <a:t>1. IP manzil kiritiladi.</a:t>
            </a:r>
            <a:endParaRPr sz="2000" b="1">
              <a:solidFill>
                <a:schemeClr val="tx1"/>
              </a:solidFill>
              <a:latin typeface="Times New Roman" panose="02020603050405020304" charset="0"/>
              <a:cs typeface="Times New Roman" panose="02020603050405020304" charset="0"/>
            </a:endParaRPr>
          </a:p>
          <a:p>
            <a:pPr>
              <a:lnSpc>
                <a:spcPct val="150000"/>
              </a:lnSpc>
              <a:defRPr sz="1500"/>
            </a:pPr>
            <a:r>
              <a:rPr sz="2000" b="1">
                <a:solidFill>
                  <a:schemeClr val="tx1"/>
                </a:solidFill>
                <a:latin typeface="Times New Roman" panose="02020603050405020304" charset="0"/>
                <a:cs typeface="Times New Roman" panose="02020603050405020304" charset="0"/>
              </a:rPr>
              <a:t>2. Kerakli funksiya tanlanadi.</a:t>
            </a:r>
            <a:endParaRPr sz="2000" b="1">
              <a:solidFill>
                <a:schemeClr val="tx1"/>
              </a:solidFill>
              <a:latin typeface="Times New Roman" panose="02020603050405020304" charset="0"/>
              <a:cs typeface="Times New Roman" panose="02020603050405020304" charset="0"/>
            </a:endParaRPr>
          </a:p>
          <a:p>
            <a:pPr>
              <a:lnSpc>
                <a:spcPct val="150000"/>
              </a:lnSpc>
              <a:defRPr sz="1500"/>
            </a:pPr>
            <a:r>
              <a:rPr sz="2000" b="1">
                <a:solidFill>
                  <a:schemeClr val="tx1"/>
                </a:solidFill>
                <a:latin typeface="Times New Roman" panose="02020603050405020304" charset="0"/>
                <a:cs typeface="Times New Roman" panose="02020603050405020304" charset="0"/>
              </a:rPr>
              <a:t>3. Dastur so'rov yuboradi.</a:t>
            </a:r>
            <a:endParaRPr sz="2000" b="1">
              <a:solidFill>
                <a:schemeClr val="tx1"/>
              </a:solidFill>
              <a:latin typeface="Times New Roman" panose="02020603050405020304" charset="0"/>
              <a:cs typeface="Times New Roman" panose="02020603050405020304" charset="0"/>
            </a:endParaRPr>
          </a:p>
          <a:p>
            <a:pPr>
              <a:lnSpc>
                <a:spcPct val="150000"/>
              </a:lnSpc>
              <a:defRPr sz="1500"/>
            </a:pPr>
            <a:r>
              <a:rPr sz="2000" b="1">
                <a:solidFill>
                  <a:schemeClr val="tx1"/>
                </a:solidFill>
                <a:latin typeface="Times New Roman" panose="02020603050405020304" charset="0"/>
                <a:cs typeface="Times New Roman" panose="02020603050405020304" charset="0"/>
              </a:rPr>
              <a:t>4. Natija qayta ishlanadi.</a:t>
            </a:r>
            <a:endParaRPr sz="2000" b="1">
              <a:solidFill>
                <a:schemeClr val="tx1"/>
              </a:solidFill>
              <a:latin typeface="Times New Roman" panose="02020603050405020304" charset="0"/>
              <a:cs typeface="Times New Roman" panose="02020603050405020304" charset="0"/>
            </a:endParaRPr>
          </a:p>
          <a:p>
            <a:pPr>
              <a:lnSpc>
                <a:spcPct val="150000"/>
              </a:lnSpc>
              <a:defRPr sz="1500"/>
            </a:pPr>
            <a:r>
              <a:rPr sz="2400" b="1">
                <a:solidFill>
                  <a:schemeClr val="tx1"/>
                </a:solidFill>
                <a:latin typeface="Times New Roman" panose="02020603050405020304" charset="0"/>
                <a:cs typeface="Times New Roman" panose="02020603050405020304" charset="0"/>
              </a:rPr>
              <a:t>5. Ekranga chiqariladi.</a:t>
            </a:r>
            <a:endParaRPr sz="2400" b="1">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82880"/>
            <a:ext cx="10972800" cy="548640"/>
          </a:xfrm>
          <a:prstGeom prst="rect">
            <a:avLst/>
          </a:prstGeom>
          <a:noFill/>
        </p:spPr>
        <p:txBody>
          <a:bodyPr wrap="none">
            <a:spAutoFit/>
          </a:bodyPr>
          <a:lstStyle/>
          <a:p>
            <a:pPr algn="ctr">
              <a:defRPr sz="2600" b="1"/>
            </a:pPr>
            <a:r>
              <a:t>4. Firewall Block</a:t>
            </a:r>
          </a:p>
        </p:txBody>
      </p:sp>
      <p:pic>
        <p:nvPicPr>
          <p:cNvPr id="3" name="Picture 2" descr="image.png"/>
          <p:cNvPicPr>
            <a:picLocks noChangeAspect="1"/>
          </p:cNvPicPr>
          <p:nvPr/>
        </p:nvPicPr>
        <p:blipFill>
          <a:blip r:embed="rId1"/>
          <a:stretch>
            <a:fillRect/>
          </a:stretch>
        </p:blipFill>
        <p:spPr>
          <a:xfrm>
            <a:off x="548640" y="822960"/>
            <a:ext cx="8427720" cy="4816475"/>
          </a:xfrm>
          <a:prstGeom prst="rect">
            <a:avLst/>
          </a:prstGeom>
        </p:spPr>
      </p:pic>
      <p:sp>
        <p:nvSpPr>
          <p:cNvPr id="4" name="TextBox 3"/>
          <p:cNvSpPr txBox="1"/>
          <p:nvPr/>
        </p:nvSpPr>
        <p:spPr>
          <a:xfrm>
            <a:off x="548640" y="5577840"/>
            <a:ext cx="11014075" cy="2676525"/>
          </a:xfrm>
          <a:prstGeom prst="rect">
            <a:avLst/>
          </a:prstGeom>
          <a:noFill/>
        </p:spPr>
        <p:txBody>
          <a:bodyPr wrap="none">
            <a:spAutoFit/>
          </a:bodyPr>
          <a:lstStyle/>
          <a:p>
            <a:pPr algn="l">
              <a:lnSpc>
                <a:spcPct val="150000"/>
              </a:lnSpc>
              <a:defRPr sz="1800"/>
            </a:pPr>
            <a:r>
              <a:rPr sz="1600">
                <a:latin typeface="Times New Roman" panose="02020603050405020304" charset="0"/>
                <a:cs typeface="Times New Roman" panose="02020603050405020304" charset="0"/>
                <a:sym typeface="+mn-ea"/>
              </a:rPr>
              <a:t>Firewall Block funksiyasi zararli IP manzilni operatsion tizim xavfsizlik devoriga qo'shib, unga kirish va chiqish trafikini taqiqlaydi. </a:t>
            </a:r>
            <a:endParaRPr sz="1600">
              <a:latin typeface="Times New Roman" panose="02020603050405020304" charset="0"/>
              <a:cs typeface="Times New Roman" panose="02020603050405020304" charset="0"/>
              <a:sym typeface="+mn-ea"/>
            </a:endParaRPr>
          </a:p>
          <a:p>
            <a:pPr algn="l">
              <a:lnSpc>
                <a:spcPct val="150000"/>
              </a:lnSpc>
              <a:defRPr sz="1800"/>
            </a:pPr>
            <a:r>
              <a:rPr sz="1600">
                <a:latin typeface="Times New Roman" panose="02020603050405020304" charset="0"/>
                <a:cs typeface="Times New Roman" panose="02020603050405020304" charset="0"/>
                <a:sym typeface="+mn-ea"/>
              </a:rPr>
              <a:t>Bu DDoS, brute force va skanerlash hujumlarini to'xtatishda samarali usul hisoblanadi.</a:t>
            </a:r>
            <a:br>
              <a:rPr sz="1600">
                <a:latin typeface="Times New Roman" panose="02020603050405020304" charset="0"/>
                <a:cs typeface="Times New Roman" panose="02020603050405020304" charset="0"/>
                <a:sym typeface="+mn-ea"/>
              </a:rPr>
            </a:br>
            <a:br>
              <a:rPr sz="1600">
                <a:latin typeface="Times New Roman" panose="02020603050405020304" charset="0"/>
                <a:cs typeface="Times New Roman" panose="02020603050405020304" charset="0"/>
                <a:sym typeface="+mn-ea"/>
              </a:rPr>
            </a:br>
            <a:r>
              <a:rPr sz="1600">
                <a:latin typeface="Times New Roman" panose="02020603050405020304" charset="0"/>
                <a:cs typeface="Times New Roman" panose="02020603050405020304" charset="0"/>
                <a:sym typeface="+mn-ea"/>
              </a:rPr>
              <a:t>Amaliy qo'llanishi:</a:t>
            </a:r>
            <a:br>
              <a:rPr sz="1600">
                <a:latin typeface="Times New Roman" panose="02020603050405020304" charset="0"/>
                <a:cs typeface="Times New Roman" panose="02020603050405020304" charset="0"/>
                <a:sym typeface="+mn-ea"/>
              </a:rPr>
            </a:br>
            <a:r>
              <a:rPr sz="1600">
                <a:latin typeface="Times New Roman" panose="02020603050405020304" charset="0"/>
                <a:cs typeface="Times New Roman" panose="02020603050405020304" charset="0"/>
                <a:sym typeface="+mn-ea"/>
              </a:rPr>
              <a:t> Doimiy hujum qilayotgan IP ni bloklash.</a:t>
            </a:r>
            <a:br>
              <a:rPr sz="1600">
                <a:latin typeface="Times New Roman" panose="02020603050405020304" charset="0"/>
                <a:cs typeface="Times New Roman" panose="02020603050405020304" charset="0"/>
                <a:sym typeface="+mn-ea"/>
              </a:rPr>
            </a:br>
            <a:r>
              <a:rPr lang="en-US"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Avtomatik qora ro'yxat yaratish.</a:t>
            </a:r>
            <a:br>
              <a:rPr sz="1600">
                <a:latin typeface="Times New Roman" panose="02020603050405020304" charset="0"/>
                <a:cs typeface="Times New Roman" panose="02020603050405020304" charset="0"/>
                <a:sym typeface="+mn-ea"/>
              </a:rPr>
            </a:br>
            <a:r>
              <a:rPr sz="1600">
                <a:latin typeface="Times New Roman" panose="02020603050405020304" charset="0"/>
                <a:cs typeface="Times New Roman" panose="02020603050405020304" charset="0"/>
                <a:sym typeface="+mn-ea"/>
              </a:rPr>
              <a:t> Xavfsizlik siyosatini kuchaytirish.</a:t>
            </a:r>
            <a:endParaRPr sz="1600">
              <a:latin typeface="Times New Roman" panose="02020603050405020304" charset="0"/>
              <a:cs typeface="Times New Roman" panose="02020603050405020304" charset="0"/>
              <a:sym typeface="+mn-ea"/>
            </a:endParaRPr>
          </a:p>
        </p:txBody>
      </p:sp>
      <p:sp>
        <p:nvSpPr>
          <p:cNvPr id="5" name="TextBox 4"/>
          <p:cNvSpPr txBox="1"/>
          <p:nvPr/>
        </p:nvSpPr>
        <p:spPr>
          <a:xfrm>
            <a:off x="9397365" y="1069975"/>
            <a:ext cx="4606925" cy="414591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nSpc>
                <a:spcPct val="150000"/>
              </a:lnSpc>
              <a:defRPr sz="1500" b="1"/>
            </a:pPr>
            <a:r>
              <a:rPr sz="2400">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Ishlash jarayoni:</a:t>
            </a:r>
            <a:endParaRPr sz="2400">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nSpc>
                <a:spcPct val="150000"/>
              </a:lnSpc>
              <a:defRPr sz="1500"/>
            </a:pPr>
            <a:r>
              <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1. IP manzil kiritiladi.</a:t>
            </a:r>
            <a:endPar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nSpc>
                <a:spcPct val="150000"/>
              </a:lnSpc>
              <a:defRPr sz="1500"/>
            </a:pPr>
            <a:r>
              <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2. Kerakli funksiya tanlanadi.</a:t>
            </a:r>
            <a:endPar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nSpc>
                <a:spcPct val="150000"/>
              </a:lnSpc>
              <a:defRPr sz="1500"/>
            </a:pPr>
            <a:r>
              <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3. Dastur so'rov yuboradi.</a:t>
            </a:r>
            <a:endPar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nSpc>
                <a:spcPct val="150000"/>
              </a:lnSpc>
              <a:defRPr sz="1500"/>
            </a:pPr>
            <a:r>
              <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4. Natija qayta ishlanadi.</a:t>
            </a:r>
            <a:endPar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a:p>
            <a:pPr>
              <a:lnSpc>
                <a:spcPct val="150000"/>
              </a:lnSpc>
              <a:defRPr sz="1500"/>
            </a:pPr>
            <a:r>
              <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rPr>
              <a:t>5. Ekranga chiqariladi.</a:t>
            </a:r>
            <a:endParaRPr sz="2400" b="1">
              <a:solidFill>
                <a:schemeClr val="tx1"/>
              </a:solidFill>
              <a:effectLst>
                <a:outerShdw blurRad="38100" dist="38100" dir="2700000" algn="tl">
                  <a:srgbClr val="000000">
                    <a:alpha val="43137"/>
                  </a:srgbClr>
                </a:outerShdw>
              </a:effectLst>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82880"/>
            <a:ext cx="10972800" cy="548640"/>
          </a:xfrm>
          <a:prstGeom prst="rect">
            <a:avLst/>
          </a:prstGeom>
          <a:noFill/>
        </p:spPr>
        <p:txBody>
          <a:bodyPr wrap="none">
            <a:spAutoFit/>
          </a:bodyPr>
          <a:lstStyle/>
          <a:p>
            <a:pPr algn="ctr">
              <a:defRPr sz="2600" b="1"/>
            </a:pPr>
            <a:r>
              <a:t>5. Firewall Unblock</a:t>
            </a:r>
          </a:p>
        </p:txBody>
      </p:sp>
      <p:pic>
        <p:nvPicPr>
          <p:cNvPr id="3" name="Picture 2" descr="image.png"/>
          <p:cNvPicPr>
            <a:picLocks noChangeAspect="1"/>
          </p:cNvPicPr>
          <p:nvPr/>
        </p:nvPicPr>
        <p:blipFill>
          <a:blip r:embed="rId1"/>
          <a:stretch>
            <a:fillRect/>
          </a:stretch>
        </p:blipFill>
        <p:spPr>
          <a:xfrm>
            <a:off x="548640" y="822960"/>
            <a:ext cx="8376285" cy="4786630"/>
          </a:xfrm>
          <a:prstGeom prst="rect">
            <a:avLst/>
          </a:prstGeom>
        </p:spPr>
      </p:pic>
      <p:sp>
        <p:nvSpPr>
          <p:cNvPr id="5" name="TextBox 4"/>
          <p:cNvSpPr txBox="1"/>
          <p:nvPr/>
        </p:nvSpPr>
        <p:spPr>
          <a:xfrm>
            <a:off x="9722485" y="1183005"/>
            <a:ext cx="4125595" cy="442658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gn="l">
              <a:lnSpc>
                <a:spcPct val="150000"/>
              </a:lnSpc>
              <a:defRPr sz="1500" b="1"/>
            </a:pPr>
            <a:r>
              <a:rPr sz="2400">
                <a:solidFill>
                  <a:schemeClr val="tx1"/>
                </a:solidFill>
              </a:rPr>
              <a:t>Ishlash jarayoni:</a:t>
            </a:r>
            <a:endParaRPr sz="2400">
              <a:solidFill>
                <a:schemeClr val="tx1"/>
              </a:solidFill>
            </a:endParaRPr>
          </a:p>
          <a:p>
            <a:pPr algn="l">
              <a:lnSpc>
                <a:spcPct val="150000"/>
              </a:lnSpc>
              <a:defRPr sz="1500"/>
            </a:pPr>
            <a:r>
              <a:rPr sz="2400" b="1">
                <a:solidFill>
                  <a:schemeClr val="tx1"/>
                </a:solidFill>
              </a:rPr>
              <a:t>1. IP manzil kiritiladi.</a:t>
            </a:r>
            <a:endParaRPr sz="2400" b="1">
              <a:solidFill>
                <a:schemeClr val="tx1"/>
              </a:solidFill>
            </a:endParaRPr>
          </a:p>
          <a:p>
            <a:pPr algn="l">
              <a:lnSpc>
                <a:spcPct val="150000"/>
              </a:lnSpc>
              <a:defRPr sz="1500"/>
            </a:pPr>
            <a:r>
              <a:rPr sz="2400" b="1">
                <a:solidFill>
                  <a:schemeClr val="tx1"/>
                </a:solidFill>
              </a:rPr>
              <a:t>2. Kerakli funksiya tanlanadi.</a:t>
            </a:r>
            <a:endParaRPr sz="2400" b="1">
              <a:solidFill>
                <a:schemeClr val="tx1"/>
              </a:solidFill>
            </a:endParaRPr>
          </a:p>
          <a:p>
            <a:pPr algn="l">
              <a:lnSpc>
                <a:spcPct val="150000"/>
              </a:lnSpc>
              <a:defRPr sz="1500"/>
            </a:pPr>
            <a:r>
              <a:rPr sz="2400" b="1">
                <a:solidFill>
                  <a:schemeClr val="tx1"/>
                </a:solidFill>
              </a:rPr>
              <a:t>3. Dastur so'rov yuboradi.</a:t>
            </a:r>
            <a:endParaRPr sz="2400" b="1">
              <a:solidFill>
                <a:schemeClr val="tx1"/>
              </a:solidFill>
            </a:endParaRPr>
          </a:p>
          <a:p>
            <a:pPr algn="l">
              <a:lnSpc>
                <a:spcPct val="150000"/>
              </a:lnSpc>
              <a:defRPr sz="1500"/>
            </a:pPr>
            <a:r>
              <a:rPr sz="2400" b="1">
                <a:solidFill>
                  <a:schemeClr val="tx1"/>
                </a:solidFill>
              </a:rPr>
              <a:t>4. Natija qayta ishlanadi.</a:t>
            </a:r>
            <a:endParaRPr sz="2400" b="1">
              <a:solidFill>
                <a:schemeClr val="tx1"/>
              </a:solidFill>
            </a:endParaRPr>
          </a:p>
          <a:p>
            <a:pPr algn="l">
              <a:lnSpc>
                <a:spcPct val="150000"/>
              </a:lnSpc>
              <a:defRPr sz="1500"/>
            </a:pPr>
            <a:r>
              <a:rPr sz="2400" b="1">
                <a:solidFill>
                  <a:schemeClr val="tx1"/>
                </a:solidFill>
              </a:rPr>
              <a:t>5. Ekranga chiqariladi.</a:t>
            </a:r>
            <a:endParaRPr sz="2400" b="1">
              <a:solidFill>
                <a:schemeClr val="tx1"/>
              </a:solidFill>
            </a:endParaRPr>
          </a:p>
        </p:txBody>
      </p:sp>
      <p:sp>
        <p:nvSpPr>
          <p:cNvPr id="6" name="Текстовое поле 5"/>
          <p:cNvSpPr txBox="1"/>
          <p:nvPr/>
        </p:nvSpPr>
        <p:spPr>
          <a:xfrm>
            <a:off x="844550" y="5893435"/>
            <a:ext cx="13329920" cy="2825115"/>
          </a:xfrm>
          <a:prstGeom prst="rect">
            <a:avLst/>
          </a:prstGeom>
          <a:noFill/>
        </p:spPr>
        <p:txBody>
          <a:bodyPr wrap="square" rtlCol="0">
            <a:noAutofit/>
          </a:bodyPr>
          <a:p>
            <a:pPr>
              <a:lnSpc>
                <a:spcPct val="150000"/>
              </a:lnSpc>
            </a:pPr>
            <a:r>
              <a:rPr sz="2000">
                <a:latin typeface="Times New Roman" panose="02020603050405020304" charset="0"/>
                <a:cs typeface="Times New Roman" panose="02020603050405020304" charset="0"/>
                <a:sym typeface="+mn-ea"/>
              </a:rPr>
              <a:t>Firewall Unblock funksiyasi avval bloklangan IP manzilga yana ruxsat beradi. Bu noto'g'ri bloklangan foydalanuvchilar yoki vaqtinchalik cheklovlarni bekor qilish uchun ishlatiladi.</a:t>
            </a:r>
            <a:br>
              <a:rPr sz="2000">
                <a:latin typeface="Times New Roman" panose="02020603050405020304" charset="0"/>
                <a:cs typeface="Times New Roman" panose="02020603050405020304" charset="0"/>
                <a:sym typeface="+mn-ea"/>
              </a:rPr>
            </a:br>
            <a:r>
              <a:rPr sz="2000">
                <a:latin typeface="Times New Roman" panose="02020603050405020304" charset="0"/>
                <a:cs typeface="Times New Roman" panose="02020603050405020304" charset="0"/>
                <a:sym typeface="+mn-ea"/>
              </a:rPr>
              <a:t>Amaliy qo'llanishi:</a:t>
            </a:r>
            <a:br>
              <a:rPr sz="2000">
                <a:latin typeface="Times New Roman" panose="02020603050405020304" charset="0"/>
                <a:cs typeface="Times New Roman" panose="02020603050405020304" charset="0"/>
                <a:sym typeface="+mn-ea"/>
              </a:rPr>
            </a:br>
            <a:r>
              <a:rPr sz="2000">
                <a:latin typeface="Times New Roman" panose="02020603050405020304" charset="0"/>
                <a:cs typeface="Times New Roman" panose="02020603050405020304" charset="0"/>
                <a:sym typeface="+mn-ea"/>
              </a:rPr>
              <a:t> False positive holatlarini tuzatish.</a:t>
            </a:r>
            <a:br>
              <a:rPr sz="2000">
                <a:latin typeface="Times New Roman" panose="02020603050405020304" charset="0"/>
                <a:cs typeface="Times New Roman" panose="02020603050405020304" charset="0"/>
                <a:sym typeface="+mn-ea"/>
              </a:rPr>
            </a:br>
            <a:r>
              <a:rPr lang="en-US" sz="2000">
                <a:latin typeface="Times New Roman" panose="02020603050405020304" charset="0"/>
                <a:cs typeface="Times New Roman" panose="02020603050405020304" charset="0"/>
                <a:sym typeface="+mn-ea"/>
              </a:rPr>
              <a:t> </a:t>
            </a:r>
            <a:r>
              <a:rPr sz="2000">
                <a:latin typeface="Times New Roman" panose="02020603050405020304" charset="0"/>
                <a:cs typeface="Times New Roman" panose="02020603050405020304" charset="0"/>
                <a:sym typeface="+mn-ea"/>
              </a:rPr>
              <a:t>Vaqtinchalik bloklarni bekor qilish.</a:t>
            </a:r>
            <a:br>
              <a:rPr sz="2000">
                <a:latin typeface="Times New Roman" panose="02020603050405020304" charset="0"/>
                <a:cs typeface="Times New Roman" panose="02020603050405020304" charset="0"/>
                <a:sym typeface="+mn-ea"/>
              </a:rPr>
            </a:br>
            <a:r>
              <a:rPr sz="2000">
                <a:latin typeface="Times New Roman" panose="02020603050405020304" charset="0"/>
                <a:cs typeface="Times New Roman" panose="02020603050405020304" charset="0"/>
                <a:sym typeface="+mn-ea"/>
              </a:rPr>
              <a:t> Administrator nazoratini tiklash.</a:t>
            </a:r>
            <a:endParaRPr sz="2000">
              <a:latin typeface="Times New Roman" panose="02020603050405020304" charset="0"/>
              <a:cs typeface="Times New Roman" panose="02020603050405020304" charset="0"/>
              <a:sym typeface="+mn-ea"/>
            </a:endParaRPr>
          </a:p>
          <a:p>
            <a:endParaRPr lang="ru-RU" altLang="en-US" sz="2000">
              <a:latin typeface="Times New Roman" panose="02020603050405020304" charset="0"/>
              <a:cs typeface="Times New Roman" panose="02020603050405020304"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2641600" y="183515"/>
            <a:ext cx="10972800" cy="548640"/>
          </a:xfrm>
          <a:prstGeom prst="rect">
            <a:avLst/>
          </a:prstGeom>
          <a:noFill/>
        </p:spPr>
        <p:txBody>
          <a:bodyPr wrap="none">
            <a:spAutoFit/>
          </a:bodyPr>
          <a:lstStyle/>
          <a:p>
            <a:pPr algn="ctr">
              <a:defRPr sz="2600" b="1"/>
            </a:pPr>
            <a:r>
              <a:t>6. Dark Mode</a:t>
            </a:r>
          </a:p>
        </p:txBody>
      </p:sp>
      <p:pic>
        <p:nvPicPr>
          <p:cNvPr id="3" name="Picture 2" descr="image.png"/>
          <p:cNvPicPr>
            <a:picLocks noChangeAspect="1"/>
          </p:cNvPicPr>
          <p:nvPr/>
        </p:nvPicPr>
        <p:blipFill>
          <a:blip r:embed="rId1"/>
          <a:stretch>
            <a:fillRect/>
          </a:stretch>
        </p:blipFill>
        <p:spPr>
          <a:xfrm>
            <a:off x="3562350" y="795020"/>
            <a:ext cx="8259445" cy="4719955"/>
          </a:xfrm>
          <a:prstGeom prst="rect">
            <a:avLst/>
          </a:prstGeom>
        </p:spPr>
      </p:pic>
      <p:sp>
        <p:nvSpPr>
          <p:cNvPr id="4" name="TextBox 3"/>
          <p:cNvSpPr txBox="1"/>
          <p:nvPr/>
        </p:nvSpPr>
        <p:spPr>
          <a:xfrm>
            <a:off x="1553210" y="5577840"/>
            <a:ext cx="12647930" cy="2999740"/>
          </a:xfrm>
          <a:prstGeom prst="rect">
            <a:avLst/>
          </a:prstGeom>
          <a:noFill/>
        </p:spPr>
        <p:txBody>
          <a:bodyPr wrap="none">
            <a:spAutoFit/>
          </a:bodyPr>
          <a:lstStyle/>
          <a:p>
            <a:pPr algn="l">
              <a:lnSpc>
                <a:spcPct val="150000"/>
              </a:lnSpc>
              <a:defRPr sz="1800"/>
            </a:pPr>
            <a:r>
              <a:rPr>
                <a:latin typeface="Times New Roman" panose="02020603050405020304" charset="0"/>
                <a:cs typeface="Times New Roman" panose="02020603050405020304" charset="0"/>
                <a:sym typeface="+mn-ea"/>
              </a:rPr>
              <a:t>Dark Mode interfeys ranglarini qorong'i rejimga o'tkazadi. Bu ko'z zo'riqishini kamaytiradi va uzoq muddat ishlashda qulaylik yaratadi. </a:t>
            </a:r>
            <a:endParaRPr>
              <a:latin typeface="Times New Roman" panose="02020603050405020304" charset="0"/>
              <a:cs typeface="Times New Roman" panose="02020603050405020304" charset="0"/>
              <a:sym typeface="+mn-ea"/>
            </a:endParaRPr>
          </a:p>
          <a:p>
            <a:pPr algn="l">
              <a:lnSpc>
                <a:spcPct val="150000"/>
              </a:lnSpc>
              <a:defRPr sz="1800"/>
            </a:pPr>
            <a:r>
              <a:rPr>
                <a:latin typeface="Times New Roman" panose="02020603050405020304" charset="0"/>
                <a:cs typeface="Times New Roman" panose="02020603050405020304" charset="0"/>
                <a:sym typeface="+mn-ea"/>
              </a:rPr>
              <a:t>Professional monitoring tizimlarida bunday rejim operatorlarning samaradorligini oshiradi.</a:t>
            </a:r>
            <a:br>
              <a:rPr>
                <a:latin typeface="Times New Roman" panose="02020603050405020304" charset="0"/>
                <a:cs typeface="Times New Roman" panose="02020603050405020304" charset="0"/>
                <a:sym typeface="+mn-ea"/>
              </a:rPr>
            </a:b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Afzalliklari:</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Ko'z uchun qulay.</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Kam yorug'likda ishlashga mos.</a:t>
            </a:r>
            <a:br>
              <a:rPr>
                <a:latin typeface="Times New Roman" panose="02020603050405020304" charset="0"/>
                <a:cs typeface="Times New Roman" panose="02020603050405020304" charset="0"/>
                <a:sym typeface="+mn-ea"/>
              </a:rPr>
            </a:br>
            <a:r>
              <a:rPr>
                <a:latin typeface="Times New Roman" panose="02020603050405020304" charset="0"/>
                <a:cs typeface="Times New Roman" panose="02020603050405020304" charset="0"/>
                <a:sym typeface="+mn-ea"/>
              </a:rPr>
              <a:t> Zamonaviy professional dizayn.</a:t>
            </a:r>
            <a:endParaRPr>
              <a:latin typeface="Times New Roman" panose="02020603050405020304" charset="0"/>
              <a:cs typeface="Times New Roman" panose="0202060305040502030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p:sp>
        <p:nvSpPr>
          <p:cNvPr id="2" name="Rounded Rectangle 1"/>
          <p:cNvSpPr/>
          <p:nvPr/>
        </p:nvSpPr>
        <p:spPr>
          <a:xfrm>
            <a:off x="7724140" y="3058795"/>
            <a:ext cx="7428230" cy="5706745"/>
          </a:xfrm>
          <a:prstGeom prst="roundRect">
            <a:avLst>
              <a:gd name="adj" fmla="val 2247"/>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TextBox 3"/>
          <p:cNvSpPr txBox="1"/>
          <p:nvPr/>
        </p:nvSpPr>
        <p:spPr>
          <a:xfrm>
            <a:off x="8204200" y="3200400"/>
            <a:ext cx="7048500" cy="749300"/>
          </a:xfrm>
          <a:prstGeom prst="rect">
            <a:avLst/>
          </a:prstGeom>
          <a:noFill/>
        </p:spPr>
        <p:txBody>
          <a:bodyPr wrap="square" lIns="0" tIns="0" rIns="0" bIns="0">
            <a:spAutoFit/>
          </a:bodyPr>
          <a:lstStyle/>
          <a:p>
            <a:pPr>
              <a:lnSpc>
                <a:spcPct val="110000"/>
              </a:lnSpc>
              <a:defRPr sz="2100" b="0" i="0">
                <a:solidFill>
                  <a:srgbClr val="1F2937"/>
                </a:solidFill>
                <a:latin typeface="Inter"/>
              </a:defRPr>
            </a:pPr>
            <a:r>
              <a:rPr sz="2100" b="0" i="0">
                <a:solidFill>
                  <a:srgbClr val="1F2937"/>
                </a:solidFill>
                <a:latin typeface="Inter"/>
              </a:rPr>
              <a:t>IP manzillarni nazorat qilish tarmoq xavfsizligini 60% ga oshiradi.</a:t>
            </a:r>
            <a:endParaRPr sz="2100" b="0" i="0">
              <a:solidFill>
                <a:srgbClr val="1F2937"/>
              </a:solidFill>
              <a:latin typeface="Inter"/>
            </a:endParaRPr>
          </a:p>
        </p:txBody>
      </p:sp>
      <p:sp>
        <p:nvSpPr>
          <p:cNvPr id="5" name="TextBox 4"/>
          <p:cNvSpPr txBox="1"/>
          <p:nvPr/>
        </p:nvSpPr>
        <p:spPr>
          <a:xfrm>
            <a:off x="8204200" y="3949700"/>
            <a:ext cx="7048500" cy="368300"/>
          </a:xfrm>
          <a:prstGeom prst="rect">
            <a:avLst/>
          </a:prstGeom>
          <a:noFill/>
        </p:spPr>
        <p:txBody>
          <a:bodyPr wrap="square" lIns="0" tIns="0" rIns="0" bIns="0">
            <a:spAutoFit/>
          </a:bodyPr>
          <a:lstStyle/>
          <a:p>
            <a:pPr>
              <a:defRPr sz="2100" b="0" i="0">
                <a:solidFill>
                  <a:srgbClr val="1F2937"/>
                </a:solidFill>
                <a:latin typeface="Inter"/>
              </a:defRPr>
            </a:pPr>
            <a:r>
              <a:rPr sz="2100" b="0" i="0">
                <a:solidFill>
                  <a:srgbClr val="1F2937"/>
                </a:solidFill>
                <a:latin typeface="Inter"/>
              </a:rPr>
              <a:t>Xar bir IP uchun kirish ruxsatlari qat’iy tartibga solinadi.</a:t>
            </a:r>
            <a:endParaRPr sz="2100" b="0" i="0">
              <a:solidFill>
                <a:srgbClr val="1F2937"/>
              </a:solidFill>
              <a:latin typeface="Inter"/>
            </a:endParaRPr>
          </a:p>
        </p:txBody>
      </p:sp>
      <p:sp>
        <p:nvSpPr>
          <p:cNvPr id="6" name="TextBox 5"/>
          <p:cNvSpPr txBox="1"/>
          <p:nvPr/>
        </p:nvSpPr>
        <p:spPr>
          <a:xfrm>
            <a:off x="8103870" y="4538980"/>
            <a:ext cx="7048500" cy="749300"/>
          </a:xfrm>
          <a:prstGeom prst="rect">
            <a:avLst/>
          </a:prstGeom>
          <a:noFill/>
        </p:spPr>
        <p:txBody>
          <a:bodyPr wrap="square" lIns="0" tIns="0" rIns="0" bIns="0">
            <a:spAutoFit/>
          </a:bodyPr>
          <a:lstStyle/>
          <a:p>
            <a:pPr>
              <a:lnSpc>
                <a:spcPct val="110000"/>
              </a:lnSpc>
              <a:defRPr sz="2100" b="0" i="0">
                <a:solidFill>
                  <a:srgbClr val="1F2937"/>
                </a:solidFill>
                <a:latin typeface="Inter"/>
              </a:defRPr>
            </a:pPr>
            <a:r>
              <a:rPr sz="2100" b="0" i="0">
                <a:solidFill>
                  <a:srgbClr val="1F2937"/>
                </a:solidFill>
                <a:latin typeface="Inter"/>
              </a:rPr>
              <a:t>Nojo‘ya trafik oqimini avtomatik aniqlash va bloklash sozlamalari joriy qilinadi.</a:t>
            </a:r>
            <a:endParaRPr sz="2100" b="0" i="0">
              <a:solidFill>
                <a:srgbClr val="1F2937"/>
              </a:solidFill>
              <a:latin typeface="Inter"/>
            </a:endParaRPr>
          </a:p>
        </p:txBody>
      </p:sp>
      <p:sp>
        <p:nvSpPr>
          <p:cNvPr id="7" name="TextBox 6"/>
          <p:cNvSpPr txBox="1"/>
          <p:nvPr/>
        </p:nvSpPr>
        <p:spPr>
          <a:xfrm>
            <a:off x="8103870" y="5288280"/>
            <a:ext cx="7048500" cy="749300"/>
          </a:xfrm>
          <a:prstGeom prst="rect">
            <a:avLst/>
          </a:prstGeom>
          <a:noFill/>
        </p:spPr>
        <p:txBody>
          <a:bodyPr wrap="square" lIns="0" tIns="0" rIns="0" bIns="0">
            <a:spAutoFit/>
          </a:bodyPr>
          <a:lstStyle/>
          <a:p>
            <a:pPr>
              <a:lnSpc>
                <a:spcPct val="110000"/>
              </a:lnSpc>
              <a:defRPr sz="2100" b="0" i="0">
                <a:solidFill>
                  <a:srgbClr val="1F2937"/>
                </a:solidFill>
                <a:latin typeface="Inter"/>
              </a:defRPr>
            </a:pPr>
            <a:r>
              <a:rPr sz="2100" b="0" i="0">
                <a:solidFill>
                  <a:srgbClr val="1F2937"/>
                </a:solidFill>
                <a:latin typeface="Inter"/>
              </a:rPr>
              <a:t>Tarmoq monitoringida IP nazorati holda tahdidlar 40% ko‘payadi.</a:t>
            </a:r>
            <a:endParaRPr sz="2100" b="0" i="0">
              <a:solidFill>
                <a:srgbClr val="1F2937"/>
              </a:solidFill>
              <a:latin typeface="Inter"/>
            </a:endParaRPr>
          </a:p>
        </p:txBody>
      </p:sp>
      <p:sp>
        <p:nvSpPr>
          <p:cNvPr id="8" name="Rounded Rectangle 7"/>
          <p:cNvSpPr/>
          <p:nvPr/>
        </p:nvSpPr>
        <p:spPr>
          <a:xfrm>
            <a:off x="7430770" y="845820"/>
            <a:ext cx="8229600" cy="2133600"/>
          </a:xfrm>
          <a:prstGeom prst="roundRect">
            <a:avLst>
              <a:gd name="adj" fmla="val 59523"/>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sz="4800" b="1" i="1">
                <a:solidFill>
                  <a:schemeClr val="bg1"/>
                </a:solidFill>
                <a:latin typeface="Felix Titling" panose="04060505060202020A04" charset="0"/>
                <a:ea typeface="Ink Chancery" panose="00020600040101010101" charset="-122"/>
                <a:cs typeface="Felix Titling" panose="04060505060202020A04" charset="0"/>
              </a:rPr>
              <a:t>XULOSA:</a:t>
            </a:r>
            <a:endParaRPr lang="en-US" sz="4800" b="1" i="1">
              <a:solidFill>
                <a:schemeClr val="bg1"/>
              </a:solidFill>
              <a:latin typeface="Felix Titling" panose="04060505060202020A04" charset="0"/>
              <a:ea typeface="Ink Chancery" panose="00020600040101010101" charset="-122"/>
              <a:cs typeface="Felix Titling" panose="04060505060202020A04" charset="0"/>
            </a:endParaRPr>
          </a:p>
        </p:txBody>
      </p:sp>
      <p:pic>
        <p:nvPicPr>
          <p:cNvPr id="11" name="Picture 10" descr="ab446690-974c-4572-a5d6-a7a5ebbec3fc.png"/>
          <p:cNvPicPr>
            <a:picLocks noChangeAspect="1"/>
          </p:cNvPicPr>
          <p:nvPr/>
        </p:nvPicPr>
        <p:blipFill>
          <a:blip r:embed="rId1"/>
          <a:stretch>
            <a:fillRect/>
          </a:stretch>
        </p:blipFill>
        <p:spPr>
          <a:xfrm>
            <a:off x="454025" y="400685"/>
            <a:ext cx="6644640" cy="8337550"/>
          </a:xfrm>
          <a:prstGeom prst="round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CF1"/>
        </a:solidFill>
        <a:effectLst/>
      </p:bgPr>
    </p:bg>
    <p:spTree>
      <p:nvGrpSpPr>
        <p:cNvPr id="1" name=""/>
        <p:cNvGrpSpPr/>
        <p:nvPr/>
      </p:nvGrpSpPr>
      <p:grpSpPr/>
      <p:sp>
        <p:nvSpPr>
          <p:cNvPr id="2" name="Rounded Rectangle 1"/>
          <p:cNvSpPr/>
          <p:nvPr/>
        </p:nvSpPr>
        <p:spPr>
          <a:xfrm>
            <a:off x="12700" y="12700"/>
            <a:ext cx="16273780" cy="4318000"/>
          </a:xfrm>
          <a:prstGeom prst="roundRect">
            <a:avLst>
              <a:gd name="adj" fmla="val 2352"/>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3" name="Rounded Rectangle 2"/>
          <p:cNvSpPr/>
          <p:nvPr/>
        </p:nvSpPr>
        <p:spPr>
          <a:xfrm>
            <a:off x="12700" y="4316730"/>
            <a:ext cx="16230600" cy="4814570"/>
          </a:xfrm>
          <a:prstGeom prst="roundRect">
            <a:avLst>
              <a:gd name="adj" fmla="val 3333"/>
            </a:avLst>
          </a:prstGeom>
          <a:solidFill>
            <a:srgbClr val="FFC404"/>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4" name="Rounded Rectangle 3"/>
          <p:cNvSpPr/>
          <p:nvPr/>
        </p:nvSpPr>
        <p:spPr>
          <a:xfrm>
            <a:off x="2286000" y="2921000"/>
            <a:ext cx="11684000" cy="3302000"/>
          </a:xfrm>
          <a:prstGeom prst="roundRect">
            <a:avLst>
              <a:gd name="adj" fmla="val 38461"/>
            </a:avLst>
          </a:prstGeom>
          <a:solidFill>
            <a:srgbClr val="1D4D2F"/>
          </a:solidFill>
          <a:ln>
            <a:noFill/>
          </a:ln>
          <a:effectLst>
            <a:outerShdw>
              <a:srgbClr val="000000">
                <a:alpha val="0"/>
              </a:srgbClr>
            </a:outerShdw>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p>
        </p:txBody>
      </p:sp>
      <p:sp>
        <p:nvSpPr>
          <p:cNvPr id="5" name="TextBox 4"/>
          <p:cNvSpPr txBox="1"/>
          <p:nvPr/>
        </p:nvSpPr>
        <p:spPr>
          <a:xfrm>
            <a:off x="3302000" y="4533900"/>
            <a:ext cx="9677400" cy="800100"/>
          </a:xfrm>
          <a:prstGeom prst="rect">
            <a:avLst/>
          </a:prstGeom>
          <a:noFill/>
        </p:spPr>
        <p:txBody>
          <a:bodyPr wrap="square" lIns="0" tIns="0" rIns="0" bIns="0">
            <a:spAutoFit/>
          </a:bodyPr>
          <a:lstStyle/>
          <a:p>
            <a:pPr algn="ctr">
              <a:defRPr sz="5700" b="1" i="0">
                <a:solidFill>
                  <a:srgbClr val="FFFFFF"/>
                </a:solidFill>
                <a:latin typeface="serif"/>
              </a:defRPr>
            </a:pPr>
            <a:r>
              <a:rPr sz="5700" b="1" i="0">
                <a:solidFill>
                  <a:srgbClr val="FFFFFF"/>
                </a:solidFill>
                <a:latin typeface="serif"/>
              </a:rPr>
              <a:t>Rahmat</a:t>
            </a:r>
            <a:endParaRPr sz="5700" b="1" i="0">
              <a:solidFill>
                <a:srgbClr val="FFFFFF"/>
              </a:solidFill>
              <a:latin typeface="serif"/>
            </a:endParaRPr>
          </a:p>
        </p:txBody>
      </p:sp>
      <p:sp>
        <p:nvSpPr>
          <p:cNvPr id="6" name="TextBox 5"/>
          <p:cNvSpPr txBox="1"/>
          <p:nvPr/>
        </p:nvSpPr>
        <p:spPr>
          <a:xfrm>
            <a:off x="3302000" y="3503930"/>
            <a:ext cx="9677400" cy="676910"/>
          </a:xfrm>
          <a:prstGeom prst="rect">
            <a:avLst/>
          </a:prstGeom>
          <a:noFill/>
        </p:spPr>
        <p:txBody>
          <a:bodyPr wrap="square" lIns="0" tIns="0" rIns="0" bIns="0">
            <a:spAutoFit/>
          </a:bodyPr>
          <a:lstStyle/>
          <a:p>
            <a:pPr algn="ctr">
              <a:defRPr sz="3800" b="0" i="0">
                <a:solidFill>
                  <a:srgbClr val="FFFFFF"/>
                </a:solidFill>
                <a:latin typeface="serif"/>
              </a:defRPr>
            </a:pPr>
            <a:r>
              <a:rPr sz="3800" b="0" i="0">
                <a:solidFill>
                  <a:srgbClr val="FFFFFF"/>
                </a:solidFill>
                <a:latin typeface="serif"/>
              </a:rPr>
              <a:t> </a:t>
            </a:r>
            <a:r>
              <a:rPr lang="en-US" sz="4400" b="1" i="0">
                <a:solidFill>
                  <a:srgbClr val="FFFFFF"/>
                </a:solidFill>
                <a:latin typeface="serif"/>
              </a:rPr>
              <a:t>E</a:t>
            </a:r>
            <a:r>
              <a:rPr sz="4400" b="1" i="0">
                <a:solidFill>
                  <a:srgbClr val="FFFFFF"/>
                </a:solidFill>
                <a:latin typeface="serif"/>
              </a:rPr>
              <a:t>'tiboringiz uchun</a:t>
            </a:r>
            <a:endParaRPr sz="4400" b="1" i="0">
              <a:solidFill>
                <a:srgbClr val="FFFFFF"/>
              </a:solidFill>
              <a:latin typeface="serif"/>
            </a:endParaRPr>
          </a:p>
        </p:txBody>
      </p:sp>
    </p:spTree>
  </p:cSld>
  <p:clrMapOvr>
    <a:masterClrMapping/>
  </p:clrMapOvr>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10058</Words>
  <Application>WPS Presentation</Application>
  <PresentationFormat>On-screen Show (4:3)</PresentationFormat>
  <Paragraphs>216</Paragraphs>
  <Slides>21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Arial</vt:lpstr>
      <vt:lpstr>SimSun</vt:lpstr>
      <vt:lpstr>Wingdings</vt:lpstr>
      <vt:lpstr>Times New Roman</vt:lpstr>
      <vt:lpstr>serif</vt:lpstr>
      <vt:lpstr>Segoe Print</vt:lpstr>
      <vt:lpstr>Calibri</vt:lpstr>
      <vt:lpstr>Inter</vt:lpstr>
      <vt:lpstr>Georgia</vt:lpstr>
      <vt:lpstr>Playfair Display</vt:lpstr>
      <vt:lpstr>Microsoft YaHei</vt:lpstr>
      <vt:lpstr>Arial Unicode MS</vt:lpstr>
      <vt:lpstr>Felix Titling</vt:lpstr>
      <vt:lpstr>Ink Chancery</vt:lpstr>
      <vt:lpstr>Business Cooperate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Javlon Turaboyev</cp:lastModifiedBy>
  <cp:revision>12</cp:revision>
  <dcterms:created xsi:type="dcterms:W3CDTF">2013-01-27T09:14:00Z</dcterms:created>
  <dcterms:modified xsi:type="dcterms:W3CDTF">2026-05-21T04:33:47Z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1049-12.2.0.20795</vt:lpwstr>
  </property>
  <property fmtid="{D5CDD505-2E9C-101B-9397-08002B2CF9AE}" pid="3" name="ICV">
    <vt:lpwstr>935F68D8B5CC4AFEA9974F2A1099AE8E_13</vt:lpwstr>
  </property>
</Properties>
</file>